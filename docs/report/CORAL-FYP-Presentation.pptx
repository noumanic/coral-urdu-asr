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371600"/>
            <a:ext cx="4114800" cy="4114800"/>
          </a:xfrm>
          <a:prstGeom prst="ellipse">
            <a:avLst/>
          </a:prstGeom>
          <a:solidFill>
            <a:srgbClr val="FF6B6B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114800" cy="4114800"/>
          </a:xfrm>
          <a:prstGeom prst="ellipse">
            <a:avLst/>
          </a:prstGeom>
          <a:solidFill>
            <a:srgbClr val="4ECDC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5120640"/>
            <a:ext cx="2286000" cy="2286000"/>
          </a:xfrm>
          <a:prstGeom prst="ellipse">
            <a:avLst/>
          </a:prstGeom>
          <a:solidFill>
            <a:srgbClr val="FFD93D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02920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FAST-NUCES  •  FINAL YEAR PROJECT  • 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0972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E5E7EB"/>
                </a:solidFill>
                <a:latin typeface="Calibri"/>
              </a:rPr>
              <a:t>CORAL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E5E7EB"/>
                </a:solidFill>
                <a:latin typeface="Calibri"/>
              </a:rPr>
              <a:t>Consensus-Based Refinement and Output Realignment</a:t>
            </a:r>
          </a:p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E5E7EB"/>
                </a:solidFill>
                <a:latin typeface="Calibri"/>
              </a:rPr>
              <a:t>for Low-Resource Urdu ASR Post-Processing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9CA3AF"/>
                </a:solidFill>
                <a:latin typeface="Calibri"/>
              </a:rPr>
              <a:t>A five-stage post-processing pipeline reducing Urdu ASR WER by up to 46.5% relative — without retraining any acoustic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77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834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6B6B"/>
                </a:solidFill>
                <a:latin typeface="Calibri"/>
              </a:rPr>
              <a:t>46.5%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Rel. WER ↓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Conversational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49377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49834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6B6B"/>
                </a:solidFill>
                <a:latin typeface="Calibri"/>
              </a:rPr>
              <a:t>22.3%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55321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Rel. WER ↓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Common Voice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9377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49834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6B6B"/>
                </a:solidFill>
                <a:latin typeface="Calibri"/>
              </a:rPr>
              <a:t>500K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5321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Word Urdu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Corpus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493776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49834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6B6B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55321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Pipeline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Stages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ECDC4"/>
                </a:solidFill>
                <a:latin typeface="Calibri"/>
              </a:rPr>
              <a:t>Project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Ali Irfan  21I-2572   •   Nouman Hafeez  21I-0416   •   Rafay Khattak  21I-0423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MEET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Three engineers. One Urdu ASR mission.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01168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3657600" cy="502920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2679192"/>
            <a:ext cx="905256" cy="90525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li-irf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724912"/>
            <a:ext cx="813816" cy="813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20240" y="27432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5E7EB"/>
                </a:solidFill>
                <a:latin typeface="Calibri"/>
              </a:rPr>
              <a:t>Ali Irfan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1546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21I-2572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49039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Pipeline architect • Backend &amp;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Stage 1 weighted split-merge alignment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FastAPI orchestrator • HuggingFace Space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01168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0" y="2011680"/>
            <a:ext cx="3657600" cy="502920"/>
          </a:xfrm>
          <a:prstGeom prst="roundRect">
            <a:avLst>
              <a:gd name="adj" fmla="val 15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36592" y="2679192"/>
            <a:ext cx="905256" cy="905256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nouman-hafee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724912"/>
            <a:ext cx="813816" cy="8138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60720" y="27432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5E7EB"/>
                </a:solidFill>
                <a:latin typeface="Calibri"/>
              </a:rPr>
              <a:t>Nouman Hafeez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1546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21I-0416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749039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Corpus + retrieval • Web app • LLM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25196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Stage 2 BK-tree + 500K n-gram corpus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Full web app redesign • System architecture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LLM research &amp; integration strategy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01168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2011680"/>
            <a:ext cx="3657600" cy="502920"/>
          </a:xfrm>
          <a:prstGeom prst="roundRect">
            <a:avLst>
              <a:gd name="adj" fmla="val 15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77072" y="2679192"/>
            <a:ext cx="905256" cy="905256"/>
          </a:xfrm>
          <a:prstGeom prst="ellipse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afay-khata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2724912"/>
            <a:ext cx="813816" cy="8138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01200" y="27432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5E7EB"/>
                </a:solidFill>
                <a:latin typeface="Calibri"/>
              </a:rPr>
              <a:t>Rafay Khattak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1546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21I-0423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3749039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Research pitch • Evaluation lead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25196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Pitched the original CORAL research idea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Evaluation methodology • C0→C7 ablation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Residual-error analysis • WER/CER reporting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53212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60527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ECDC4"/>
                </a:solidFill>
                <a:latin typeface="Calibri"/>
              </a:rPr>
              <a:t>SUPERVISORS  •  ARTIFICIAL INTELLIGENCE &amp; DATA SCIENCE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8338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Ms. Kainat Iqbal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6080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CA3AF"/>
                </a:solidFill>
                <a:latin typeface="Calibri"/>
              </a:rPr>
              <a:t>Supervisor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8338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Ms. Saira Qamar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080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CA3AF"/>
                </a:solidFill>
                <a:latin typeface="Calibri"/>
              </a:rPr>
              <a:t>Co-Supervisor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2 / 32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What we will cover today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011680"/>
            <a:ext cx="5486400" cy="96012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194560"/>
            <a:ext cx="685800" cy="59436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4884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The Urdu ASR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32887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Why does Urdu still hurt at 18-20% WER?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011680"/>
            <a:ext cx="5486400" cy="96012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2194560"/>
            <a:ext cx="685800" cy="594360"/>
          </a:xfrm>
          <a:prstGeom prst="roundRect">
            <a:avLst>
              <a:gd name="adj" fmla="val 25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14884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Research 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532887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Five algorithmic levers, zero retraining.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8960"/>
            <a:ext cx="5486400" cy="96012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291840"/>
            <a:ext cx="685800" cy="59436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9184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24612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From FYP-1 to FYP-2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630167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What survived. What we dropped. And why.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108960"/>
            <a:ext cx="5486400" cy="96012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3291840"/>
            <a:ext cx="685800" cy="594360"/>
          </a:xfrm>
          <a:prstGeom prst="roundRect">
            <a:avLst>
              <a:gd name="adj" fmla="val 25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29184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24612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The CORAL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630167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Stages 0-4 end-to-end.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206240"/>
            <a:ext cx="5486400" cy="96012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4389120"/>
            <a:ext cx="685800" cy="59436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38912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34340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System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727447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Kaggle GPUs → FastAPI → Next.js.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206240"/>
            <a:ext cx="5486400" cy="96012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37960" y="4389120"/>
            <a:ext cx="685800" cy="594360"/>
          </a:xfrm>
          <a:prstGeom prst="roundRect">
            <a:avLst>
              <a:gd name="adj" fmla="val 25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38912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434340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Empirical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4727447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Common Voice + Conversational Urdu.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03520"/>
            <a:ext cx="5486400" cy="96012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" y="5486400"/>
            <a:ext cx="685800" cy="59436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48640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544068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Ablation &amp; Residuals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824727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Which component buys which percentage?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5303520"/>
            <a:ext cx="5486400" cy="96012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37960" y="5486400"/>
            <a:ext cx="685800" cy="594360"/>
          </a:xfrm>
          <a:prstGeom prst="roundRect">
            <a:avLst>
              <a:gd name="adj" fmla="val 25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548640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544068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5824727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Where CORAL goes next.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3 / 32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Urdu remains a severely under-resourced ASR language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19456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6B6B"/>
                </a:solidFill>
                <a:latin typeface="Calibri"/>
              </a:rPr>
              <a:t>230 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speakers worldwide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19456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423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D93D"/>
                </a:solidFill>
                <a:latin typeface="Calibri"/>
              </a:rPr>
              <a:t>13-20%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461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WER for SOTA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4ECDC4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production-grade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Urdu post-processors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42062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44348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8B5CF6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2578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FYP team that took it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194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Foundation ASR models hit sub-5% WER on English.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60604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Yet on Urdu — the national language of Pakistan, written in Nastaliq script — Whisper, MMS and SeamlessM4T still hover between 13% (read speech) and 20% (conversational). Critical domains — healthcare, legal, accessibility, education — remain blocked.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617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ECDC4"/>
                </a:solidFill>
                <a:latin typeface="Calibri"/>
              </a:rPr>
              <a:t>Why is Urdu hard?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93776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Limited training data — Urdu is a minority of multilingual mixtures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Arabic ↔ Urdu Unicode conflation (U+0643 vs U+06A9, etc.)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Word-boundary disagreement across architectures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• Rampant Urdu ↔ English code-switching in conversation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4 / 32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743200"/>
          </a:xfrm>
          <a:prstGeom prst="rect">
            <a:avLst/>
          </a:prstGeom>
          <a:solidFill>
            <a:srgbClr val="16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RESEARCH 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Five algorithmic levers — no fine-tuning needed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1031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FF6B6B"/>
                </a:solidFill>
                <a:latin typeface="Calibr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77440"/>
            <a:ext cx="100584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1">
                <a:solidFill>
                  <a:srgbClr val="E5E7EB"/>
                </a:solidFill>
                <a:latin typeface="Calibri"/>
              </a:rPr>
              <a:t>Combining (i) Urdu-specific Unicode normalisation, (ii) weighted split-merge-aware alignment, (iii) hybrid OOV detection with BK-tree fuzzy lookup ranked by an n-gram LM, (iv) conservative position-wise voting, and (v) targeted LLM refinement of the voted output —</a:t>
            </a:r>
          </a:p>
          <a:p>
            <a:pPr algn="l">
              <a:lnSpc>
                <a:spcPct val="140000"/>
              </a:lnSpc>
            </a:pPr>
            <a:r>
              <a:rPr sz="1700" b="0" i="1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700" b="0" i="1">
                <a:solidFill>
                  <a:srgbClr val="E5E7EB"/>
                </a:solidFill>
                <a:latin typeface="Calibri"/>
              </a:rPr>
              <a:t>is sufficient to substantially reduce WER over the strongest single-model baseline, on both read-speech and conversational Urdu, without any fine-tuning of the acoustic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212080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162A42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28523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6B6B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39496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Normalize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5212080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162A42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528523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4ECDC4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39496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Align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5212080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162A42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528523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D93D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39496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OOV+BK-tree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0" y="5212080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162A42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528523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39496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Vote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5212080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162A42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528523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8B5CF6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539496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LLM Refine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5 / 32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From FYP-1 Generate-and-Refine  →  FYP-2 five-stage pipeline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011680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162A42"/>
          </a:solidFill>
          <a:ln w="9525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162A42"/>
          </a:solidFill>
          <a:ln w="952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4028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FYP-1  •  GENERATE-AND-REFINE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2-stage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918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50" b="1">
                <a:solidFill>
                  <a:srgbClr val="FFD93D"/>
                </a:solidFill>
                <a:latin typeface="Calibri"/>
              </a:rP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27355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Confidence-annotated multi-model ASR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947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50" b="1">
                <a:solidFill>
                  <a:srgbClr val="FFD93D"/>
                </a:solidFill>
                <a:latin typeface="Calibr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77647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Alif-1.0-8B LLM arbitrates between hypotheses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976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50" b="1">
                <a:solidFill>
                  <a:srgbClr val="FFD93D"/>
                </a:solidFill>
                <a:latin typeface="Calibri"/>
              </a:rPr>
              <a:t>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427939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20-sample synthetic dataset, 3 calibration regimes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006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50" b="1">
                <a:solidFill>
                  <a:srgbClr val="FFD93D"/>
                </a:solidFill>
                <a:latin typeface="Calibri"/>
              </a:rPr>
              <a:t>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78231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WER + ECE (Expected Calibration Error)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035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50" b="1">
                <a:solidFill>
                  <a:srgbClr val="FFD93D"/>
                </a:solidFill>
                <a:latin typeface="Calibri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528523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Whisper-Large baseline 17.76% WER · LLM 18.15%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224028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FYP-2  •  FIVE-STAGE POST-PROCESSING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7432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Compositional algorithmic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2918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50" b="1">
                <a:solidFill>
                  <a:srgbClr val="FF6B6B"/>
                </a:solidFill>
                <a:latin typeface="Calibri"/>
              </a:rPr>
              <a:t>Stage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27355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Urdu normalisation (Unicode, diacritics, tatweel)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7947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50" b="1">
                <a:solidFill>
                  <a:srgbClr val="FF6B6B"/>
                </a:solidFill>
                <a:latin typeface="Calibri"/>
              </a:rPr>
              <a:t>Stage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77647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Weighted split-merge alignment (SAME/SPLIT/MERGE/NOISE)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42976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50" b="1">
                <a:solidFill>
                  <a:srgbClr val="FF6B6B"/>
                </a:solidFill>
                <a:latin typeface="Calibri"/>
              </a:rPr>
              <a:t>Stage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27939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BK-tree OOV + n-gram ranking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8006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50" b="1">
                <a:solidFill>
                  <a:srgbClr val="FF6B6B"/>
                </a:solidFill>
                <a:latin typeface="Calibri"/>
              </a:rPr>
              <a:t>Stage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478231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Position-wise voting, conservative tie-break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53035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50" b="1">
                <a:solidFill>
                  <a:srgbClr val="FF6B6B"/>
                </a:solidFill>
                <a:latin typeface="Calibri"/>
              </a:rPr>
              <a:t>Stage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528523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Frontier LLM refinement (Gemini / Claude / GPT)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989320" y="3931920"/>
            <a:ext cx="411480" cy="320040"/>
          </a:xfrm>
          <a:prstGeom prst="rightArrow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6 / 32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WHAT WE DROPPED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Five FYP-1 elements removed or repositioned for FYP-2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96596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64592" cy="777240"/>
          </a:xfrm>
          <a:prstGeom prst="roundRect">
            <a:avLst>
              <a:gd name="adj" fmla="val 4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2062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50" b="1" strike="sngStrike">
                <a:solidFill>
                  <a:srgbClr val="E5E7EB"/>
                </a:solidFill>
                <a:latin typeface="Calibri"/>
              </a:rPr>
              <a:t>Word-level confidence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× was:  Whisper/Wav2Vec2 raw confidences live on incompatible scales — proved unreliable in practice.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2996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6B6B"/>
                </a:solidFill>
                <a:latin typeface="Calibri"/>
              </a:rPr>
              <a:t>→ now:  Replaced with static, model-quality based weighting only at the LLM stage.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834640"/>
            <a:ext cx="164592" cy="777240"/>
          </a:xfrm>
          <a:prstGeom prst="roundRect">
            <a:avLst>
              <a:gd name="adj" fmla="val 40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80360"/>
            <a:ext cx="42062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50" b="1" strike="sngStrike">
                <a:solidFill>
                  <a:srgbClr val="E5E7EB"/>
                </a:solidFill>
                <a:latin typeface="Calibri"/>
              </a:rPr>
              <a:t>Expected Calibration Error (ECE)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4612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× was:  Useful for FYP-1 confidence-quality comparison, but tangential to deployed pipeline.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9864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93D"/>
                </a:solidFill>
                <a:latin typeface="Calibri"/>
              </a:rPr>
              <a:t>→ now:  FYP-2 reports WER + CER only. ECE retained as historical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64592" cy="777240"/>
          </a:xfrm>
          <a:prstGeom prst="roundRect">
            <a:avLst>
              <a:gd name="adj" fmla="val 4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49040"/>
            <a:ext cx="42062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50" b="1" strike="sngStrike">
                <a:solidFill>
                  <a:srgbClr val="E5E7EB"/>
                </a:solidFill>
                <a:latin typeface="Calibri"/>
              </a:rPr>
              <a:t>Synthetic 20-sample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148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× was:  Three calibration regimes × three error types ignored Urdu-specific failures.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76732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ECDC4"/>
                </a:solidFill>
                <a:latin typeface="Calibri"/>
              </a:rPr>
              <a:t>→ now:  Replaced with 2 995 Common Voice + 500 Conversational Urdu clips.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7200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572000"/>
            <a:ext cx="164592" cy="77724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17720"/>
            <a:ext cx="42062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50" b="1" strike="sngStrike">
                <a:solidFill>
                  <a:srgbClr val="E5E7EB"/>
                </a:solidFill>
                <a:latin typeface="Calibri"/>
              </a:rPr>
              <a:t>Alif-1.0-8B-Instruct 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8348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× was:  Heavy GPU + weaker instruction following than commercial frontier models.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63600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8B5CF6"/>
                </a:solidFill>
                <a:latin typeface="Calibri"/>
              </a:rPr>
              <a:t>→ now:  Replaced with client-side Gemini / OpenRouter (Claude, GPT-4o).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4068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5440680"/>
            <a:ext cx="164592" cy="77724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486400"/>
            <a:ext cx="42062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50" b="1" strike="sngStrike">
                <a:solidFill>
                  <a:srgbClr val="E5E7EB"/>
                </a:solidFill>
                <a:latin typeface="Calibri"/>
              </a:rPr>
              <a:t>Two-stage Generate-and-Refine framing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85216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× was:  Treated LLM as primary fusion mechanism — wrong abstraction for Urdu.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50468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→ now:  Reframed as 5 sequential stages with LLM as the LAST refinement step.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7 / 32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THE CORAL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Five stages, end-to-end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286000"/>
            <a:ext cx="2240280" cy="329184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317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242316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4231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E5E7EB"/>
                </a:solidFill>
                <a:latin typeface="Calibri"/>
              </a:rPr>
              <a:t>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1965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Urdu Unicode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diacritics, tatweel,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ASCII strip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97480" y="3657600"/>
            <a:ext cx="109728" cy="32004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286000"/>
            <a:ext cx="2240280" cy="329184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317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4448" y="2423160"/>
            <a:ext cx="685800" cy="6858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24231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32004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E5E7EB"/>
                </a:solidFill>
                <a:latin typeface="Calibri"/>
              </a:rPr>
              <a:t>Align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3703320"/>
            <a:ext cx="1965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Weighted split-merge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Levenshtein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SAME/SPLIT/MERGE/NOISE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47488" y="3657600"/>
            <a:ext cx="109728" cy="32004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57216" y="2286000"/>
            <a:ext cx="2240280" cy="329184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3175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34456" y="2423160"/>
            <a:ext cx="685800" cy="685800"/>
          </a:xfrm>
          <a:prstGeom prst="ellipse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34456" y="24231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32004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E5E7EB"/>
                </a:solidFill>
                <a:latin typeface="Calibri"/>
              </a:rPr>
              <a:t>Detect OOV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6" y="3703320"/>
            <a:ext cx="1965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BK-tree fuzzy +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bi/tri-gram rank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on 500K vocab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397496" y="3657600"/>
            <a:ext cx="109728" cy="32004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07224" y="2286000"/>
            <a:ext cx="2240280" cy="329184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317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4464" y="2423160"/>
            <a:ext cx="685800" cy="6858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24231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4" y="32004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E5E7EB"/>
                </a:solidFill>
                <a:latin typeface="Calibri"/>
              </a:rPr>
              <a:t>Vote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4" y="3703320"/>
            <a:ext cx="1965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Position-wise majority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conservative tie-break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OOV substitution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747504" y="3657600"/>
            <a:ext cx="109728" cy="32004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857232" y="2286000"/>
            <a:ext cx="2240280" cy="329184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317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34472" y="2423160"/>
            <a:ext cx="685800" cy="6858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34472" y="24231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32004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E5E7EB"/>
                </a:solidFill>
                <a:latin typeface="Calibri"/>
              </a:rPr>
              <a:t>LLM Refine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3703320"/>
            <a:ext cx="1965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Fluency, code-switch,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named-entity recovery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(Gemini/Claude/GPT)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1874519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4ECDC4"/>
                </a:solidFill>
                <a:latin typeface="Calibri"/>
              </a:rPr>
              <a:t>INPUT  •  raw multi-model ASR hypotheses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1874519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6B6B"/>
                </a:solidFill>
                <a:latin typeface="Calibri"/>
              </a:rPr>
              <a:t>OUTPUT  •  corrected Urdu transcript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76072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  Server-side  Stages 0-3  •   Browser-side  Stage 4  •   Audio  →  /transcribe  →  /align  →  /oov  →  /correct  →  LLM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8 / 32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STAGE 0  •  NORMALISATION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Strip the noise — make Urdu look like Urdu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194560"/>
            <a:ext cx="5486400" cy="548640"/>
          </a:xfrm>
          <a:prstGeom prst="roundRect">
            <a:avLst>
              <a:gd name="adj" fmla="val 1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0428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Diacritics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0428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Strip U+0610–U+061A, U+064B–U+065F, U+0670 (superscript alef)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5486400" cy="548640"/>
          </a:xfrm>
          <a:prstGeom prst="roundRect">
            <a:avLst>
              <a:gd name="adj" fmla="val 1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94436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Arabic → Urdu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94436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7 canonical character maps: ك→ک, ي→ی, ة→ت, ﻻ→لا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486400" cy="548640"/>
          </a:xfrm>
          <a:prstGeom prst="roundRect">
            <a:avLst>
              <a:gd name="adj" fmla="val 1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5844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Tatweel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58444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Remove U+0640 elongation character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5486400" cy="548640"/>
          </a:xfrm>
          <a:prstGeom prst="roundRect">
            <a:avLst>
              <a:gd name="adj" fmla="val 1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22452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Punctuation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22452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Drop Arabic + Urdu + ASCII punctuation + ZWJ/ZWNJ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54880"/>
            <a:ext cx="5486400" cy="548640"/>
          </a:xfrm>
          <a:prstGeom prst="roundRect">
            <a:avLst>
              <a:gd name="adj" fmla="val 1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86460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Whitespace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86460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Collapse to single spaces · NFC normalise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94960"/>
            <a:ext cx="5486400" cy="548640"/>
          </a:xfrm>
          <a:prstGeom prst="roundRect">
            <a:avLst>
              <a:gd name="adj" fmla="val 18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550468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50468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1.9 WER points  ↓  on Conversational Urdu — for free.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19456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121A28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ECDC4"/>
                </a:solidFill>
                <a:latin typeface="Calibri"/>
              </a:rPr>
              <a:t>EXAMPLE  /  before  →  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6974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D93D"/>
                </a:solidFill>
                <a:latin typeface="Consolas"/>
              </a:rPr>
              <a:t>Raw:    سلامؐ علیکم،   ﻛیسے ہیں — ٹھیک؟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6B6B"/>
                </a:solidFill>
                <a:latin typeface="Calibri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5204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ECDC4"/>
                </a:solidFill>
                <a:latin typeface="Consolas"/>
              </a:rPr>
              <a:t>Norm:  سلام علیکم  کیسے ہیں  ٹھیک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1148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Why Stage 0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3484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CA3AF"/>
                </a:solidFill>
                <a:latin typeface="Calibri"/>
              </a:rPr>
              <a:t>A large fraction of apparent ASR errors are NOT recognition failures —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CA3AF"/>
                </a:solidFill>
                <a:latin typeface="Calibri"/>
              </a:rPr>
              <a:t>they are Unicode-variant mismatches against the reference. Stage 0 dissolves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CA3AF"/>
                </a:solidFill>
                <a:latin typeface="Calibri"/>
              </a:rPr>
              <a:t>this measurement artefact before any downstream voting decision.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9 / 32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STAGE 1  •  SPLIT-MERGE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Word boundaries are first-class citizens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ECDC4"/>
                </a:solidFill>
                <a:latin typeface="Calibri"/>
              </a:rPr>
              <a:t>The Core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Different ASR models disagree on WHERE word boundaries fall. One model emits a phrase as a single token; another splits it in two; a third merges across syllables. ROVER mis-reads this as substitution.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5E7EB"/>
                </a:solidFill>
                <a:latin typeface="Calibri"/>
              </a:rPr>
              <a:t>Per-chunk metadata produced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3484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41655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tokens align 1:1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28032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809744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one source token → many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21224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20293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many source → one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14416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NOISE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59612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neither side aligns reliably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8076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FF6B6B"/>
                </a:solidFill>
                <a:latin typeface="Calibri"/>
              </a:rPr>
              <a:t>→ 36.5% of all alignment events on Conversational Urdu are SPLIT or MERGE.</a:t>
            </a:r>
          </a:p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FF6B6B"/>
                </a:solidFill>
                <a:latin typeface="Calibri"/>
              </a:rPr>
              <a:t>→ Existing fusion methods (ROVER) lose this signal entirely.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057400"/>
            <a:ext cx="5349240" cy="4160520"/>
          </a:xfrm>
          <a:prstGeom prst="roundRect">
            <a:avLst>
              <a:gd name="adj" fmla="val 4000"/>
            </a:avLst>
          </a:prstGeom>
          <a:solidFill>
            <a:srgbClr val="121F35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14884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E7EB"/>
                </a:solidFill>
                <a:latin typeface="Calibri"/>
              </a:rPr>
              <a:t>Alignment input — three model attempts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56032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162A42"/>
          </a:solidFill>
          <a:ln w="1524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5603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D93D"/>
                </a:solidFill>
                <a:latin typeface="Calibri"/>
              </a:rPr>
              <a:t>whisper-L · src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560320"/>
            <a:ext cx="82524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2560320"/>
            <a:ext cx="82524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99398" y="2560320"/>
            <a:ext cx="825246" cy="45720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9398" y="2560320"/>
            <a:ext cx="82524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B-C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97796" y="2560320"/>
            <a:ext cx="82524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97796" y="2560320"/>
            <a:ext cx="82524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96194" y="2560320"/>
            <a:ext cx="82524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6194" y="2560320"/>
            <a:ext cx="82524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3218688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162A42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21868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3B82F6"/>
                </a:solidFill>
                <a:latin typeface="Calibri"/>
              </a:rPr>
              <a:t>seamless-L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3218688"/>
            <a:ext cx="64556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3218688"/>
            <a:ext cx="6455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19718" y="3218688"/>
            <a:ext cx="645566" cy="457200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 w="63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9718" y="3218688"/>
            <a:ext cx="6455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38436" y="3218688"/>
            <a:ext cx="645566" cy="457200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 w="63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38436" y="3218688"/>
            <a:ext cx="6455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57155" y="3218688"/>
            <a:ext cx="64556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57155" y="3218688"/>
            <a:ext cx="6455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875873" y="3218688"/>
            <a:ext cx="64556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75873" y="3218688"/>
            <a:ext cx="6455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3877056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162A42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38770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B5CF6"/>
                </a:solidFill>
                <a:latin typeface="Calibri"/>
              </a:rPr>
              <a:t>wav2vec2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1000" y="3877056"/>
            <a:ext cx="82524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0" y="3877056"/>
            <a:ext cx="82524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99398" y="3877056"/>
            <a:ext cx="825246" cy="45720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99398" y="3877056"/>
            <a:ext cx="82524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97796" y="3877056"/>
            <a:ext cx="82524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97796" y="3877056"/>
            <a:ext cx="82524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696194" y="3877056"/>
            <a:ext cx="82524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96194" y="3877056"/>
            <a:ext cx="82524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4581144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ECDC4"/>
                </a:solidFill>
                <a:latin typeface="Calibri"/>
              </a:rPr>
              <a:t>Per-chunk classification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29400" y="4873752"/>
            <a:ext cx="905256" cy="713232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720840" y="4946904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5239512"/>
            <a:ext cx="9052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E5E7EB"/>
                </a:solidFill>
                <a:latin typeface="Consolas"/>
              </a:rPr>
              <a:t>A=A=A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26096" y="4873752"/>
            <a:ext cx="905256" cy="713232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717536" y="4946904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SPLIT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6096" y="5239512"/>
            <a:ext cx="9052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E5E7EB"/>
                </a:solidFill>
                <a:latin typeface="Consolas"/>
              </a:rPr>
              <a:t>B-C ↔ B,C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22792" y="4873752"/>
            <a:ext cx="905256" cy="713232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714232" y="4946904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22792" y="5239512"/>
            <a:ext cx="9052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E5E7EB"/>
                </a:solidFill>
                <a:latin typeface="Consolas"/>
              </a:rPr>
              <a:t>B-C ↔ BC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19488" y="4873752"/>
            <a:ext cx="905256" cy="713232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710928" y="4946904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19488" y="5239512"/>
            <a:ext cx="9052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E5E7EB"/>
                </a:solidFill>
                <a:latin typeface="Consolas"/>
              </a:rPr>
              <a:t>D=D=D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616184" y="4873752"/>
            <a:ext cx="905256" cy="713232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707624" y="4946904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SAME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16184" y="5239512"/>
            <a:ext cx="9052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E5E7EB"/>
                </a:solidFill>
                <a:latin typeface="Consolas"/>
              </a:rPr>
              <a:t>E=E=E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10 / 32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STAGE 2  •  OOV DETECTION + BK-TREE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Find the rare words. Correct them with context.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2057400"/>
            <a:ext cx="5349240" cy="4160520"/>
          </a:xfrm>
          <a:prstGeom prst="roundRect">
            <a:avLst>
              <a:gd name="adj" fmla="val 4000"/>
            </a:avLst>
          </a:prstGeom>
          <a:solidFill>
            <a:srgbClr val="121F35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148840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ECDC4"/>
                </a:solidFill>
                <a:latin typeface="Calibri"/>
              </a:rPr>
              <a:t>Token stream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468880"/>
            <a:ext cx="91988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468880"/>
            <a:ext cx="919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سلام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2438" y="2468880"/>
            <a:ext cx="91988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2438" y="2468880"/>
            <a:ext cx="919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آپ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15476" y="2468880"/>
            <a:ext cx="919886" cy="457200"/>
          </a:xfrm>
          <a:prstGeom prst="roundRect">
            <a:avLst>
              <a:gd name="adj" fmla="val 18000"/>
            </a:avLst>
          </a:prstGeom>
          <a:solidFill>
            <a:srgbClr val="FF6B6B"/>
          </a:solidFill>
          <a:ln w="63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5476" y="2468880"/>
            <a:ext cx="919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بازر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5476" y="2194560"/>
            <a:ext cx="91988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6B6B"/>
                </a:solidFill>
                <a:latin typeface="Calibri"/>
              </a:rPr>
              <a:t>OOV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8515" y="2468880"/>
            <a:ext cx="91988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8515" y="2468880"/>
            <a:ext cx="919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کیسے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01553" y="2468880"/>
            <a:ext cx="919886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1553" y="2468880"/>
            <a:ext cx="919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ہیں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75420.0" y="2926080"/>
            <a:ext cx="0.0" cy="365760"/>
          </a:xfrm>
          <a:prstGeom prst="line">
            <a:avLst/>
          </a:prstGeom>
          <a:ln w="2032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38260" y="2971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6B6B"/>
                </a:solidFill>
                <a:latin typeface="Calibri"/>
              </a:rPr>
              <a:t>↓</a:t>
            </a:r>
          </a:p>
        </p:txBody>
      </p:sp>
      <p:sp>
        <p:nvSpPr>
          <p:cNvPr id="23" name="Oval 22"/>
          <p:cNvSpPr/>
          <p:nvPr/>
        </p:nvSpPr>
        <p:spPr>
          <a:xfrm>
            <a:off x="8343900" y="3429000"/>
            <a:ext cx="1463040" cy="777240"/>
          </a:xfrm>
          <a:prstGeom prst="ellipse">
            <a:avLst/>
          </a:prstGeom>
          <a:solidFill>
            <a:srgbClr val="4ECDC4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3900" y="342900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BK-tree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3820" y="4251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9CA3AF"/>
                </a:solidFill>
                <a:latin typeface="Calibri"/>
              </a:rPr>
              <a:t>~500K-word Urdu corpus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434840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ECDC4"/>
                </a:solidFill>
                <a:latin typeface="Calibri"/>
              </a:rPr>
              <a:t>Candidates · ranked (edit · uni · tri · bi · freq)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4709160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162A42"/>
          </a:solidFill>
          <a:ln w="2032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470916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0B981"/>
                </a:solidFill>
                <a:latin typeface="Calibri"/>
              </a:rPr>
              <a:t>بازار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70916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CA3AF"/>
                </a:solidFill>
                <a:latin typeface="Consolas"/>
              </a:rPr>
              <a:t>edit=1 · top-1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4709160"/>
            <a:ext cx="274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D93D"/>
                </a:solidFill>
                <a:latin typeface="Calibri"/>
              </a:rPr>
              <a:t>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5230368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162A42"/>
          </a:solidFill>
          <a:ln w="1016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523036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D93D"/>
                </a:solidFill>
                <a:latin typeface="Calibri"/>
              </a:rPr>
              <a:t>بازی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5230368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CA3AF"/>
                </a:solidFill>
                <a:latin typeface="Consolas"/>
              </a:rPr>
              <a:t>edit=1 · uni-hit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575157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162A42"/>
          </a:solidFill>
          <a:ln w="1016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5751576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CA3AF"/>
                </a:solidFill>
                <a:latin typeface="Calibri"/>
              </a:rPr>
              <a:t>بزرگ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5751576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CA3AF"/>
                </a:solidFill>
                <a:latin typeface="Consolas"/>
              </a:rPr>
              <a:t>edit=2 · weak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9144000" y="3817620.0"/>
            <a:ext cx="662940.0" cy="1097280.0"/>
          </a:xfrm>
          <a:prstGeom prst="line">
            <a:avLst/>
          </a:prstGeom>
          <a:ln w="11430">
            <a:solidFill>
              <a:srgbClr val="4ECD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9144000" y="3817620.0"/>
            <a:ext cx="662940.0" cy="1618488.0"/>
          </a:xfrm>
          <a:prstGeom prst="line">
            <a:avLst/>
          </a:prstGeom>
          <a:ln w="11430">
            <a:solidFill>
              <a:srgbClr val="4ECD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9144000" y="3817620.0"/>
            <a:ext cx="662940.0" cy="2139696.0"/>
          </a:xfrm>
          <a:prstGeom prst="line">
            <a:avLst/>
          </a:prstGeom>
          <a:ln w="11430">
            <a:solidFill>
              <a:srgbClr val="4ECD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629400" y="63642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0B981"/>
                </a:solidFill>
                <a:latin typeface="Calibri"/>
              </a:rPr>
              <a:t>Selected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09560" y="6318504"/>
            <a:ext cx="1828800" cy="41148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6318504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بازار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ECDC4"/>
                </a:solidFill>
                <a:latin typeface="Calibri"/>
              </a:rPr>
              <a:t>OOV criterion (FR3.1)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246888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Flag a token as OOV iff it appears in EXACTLY ONE model's output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AND its corpus frequency is below 2 000.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ECDC4"/>
                </a:solidFill>
                <a:latin typeface="Calibri"/>
              </a:rPr>
              <a:t>BK-tree fuzzy lookup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7490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Burkhard-Keller tree over a ~500K-word Urdu vocabulary corpus.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Length-adaptive edit-distance threshold. &gt;10× faster than linear scan.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754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ECDC4"/>
                </a:solidFill>
                <a:latin typeface="Calibri"/>
              </a:rPr>
              <a:t>Ranking signals (lexicographic)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12064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1.  Edit distance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2.  Unigram presence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3.  Trigram-context hits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4.  Bigram-context hits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5.  Corpus frequency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11 / 32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STAGE 3  •  CONSENSUS VOTING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Position-wise majority — but conservative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194560"/>
            <a:ext cx="7315200" cy="64008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6766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For each non-OOV source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7860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Collect votes from companion models. Skip insertion-aligned slots.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7315200" cy="64008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17520"/>
            <a:ext cx="6766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Plurality wins — uniquely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1012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Replace the source word only if there is a UNIQUE plurality winner.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7315200" cy="64008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49040"/>
            <a:ext cx="6766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Tie-break = preserve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41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Conservative: on ties, retain the source word. No silent substitutions.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89120"/>
            <a:ext cx="7315200" cy="64008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988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480560"/>
            <a:ext cx="6766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For each OOV 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77316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Replace the source word with the top-ranked BK-tree candidate.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20640"/>
            <a:ext cx="7315200" cy="64008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37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303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212080"/>
            <a:ext cx="6766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50468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Corrected sentence + source + position-indexed diff.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194560"/>
            <a:ext cx="3383280" cy="4023360"/>
          </a:xfrm>
          <a:prstGeom prst="roundRect">
            <a:avLst>
              <a:gd name="adj" fmla="val 5000"/>
            </a:avLst>
          </a:prstGeom>
          <a:solidFill>
            <a:srgbClr val="162A42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286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0B981"/>
                </a:solidFill>
                <a:latin typeface="Calibri"/>
              </a:rPr>
              <a:t>VOTING EXAMPLE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6060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5E7EB"/>
                </a:solidFill>
                <a:latin typeface="Calibri"/>
              </a:rPr>
              <a:t>Position 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0175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Seamless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9718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E7EB"/>
                </a:solidFill>
                <a:latin typeface="Calibri"/>
              </a:rPr>
              <a:t>کتاب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3474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Whisper-L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429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E7EB"/>
                </a:solidFill>
                <a:latin typeface="Calibri"/>
              </a:rPr>
              <a:t>کتاب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39319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Whisper-M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8862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E7EB"/>
                </a:solidFill>
                <a:latin typeface="Calibri"/>
              </a:rPr>
              <a:t>ﮐﺗﺎب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43891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Wav2Vec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43434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E7EB"/>
                </a:solidFill>
                <a:latin typeface="Calibri"/>
              </a:rPr>
              <a:t>کتاب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Winner:  کتاب  (4 / 4)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12 / 32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STAGE 4  •  LLM REFINEMENT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Fluency, code-switching, named entities — handled last, in-browser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1031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B5CF6"/>
                </a:solidFill>
                <a:latin typeface="Calibri"/>
              </a:rPr>
              <a:t>What the LLM handles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• Restore sentence-level fluency lost during voting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• Recover code-switched English tokens stripped by Stage 0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• Resolve grammar agreement that spans many words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• Disambiguate named entities &amp; proper nouns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• Operate under explicit authority limits — can NOT add new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B5CF6"/>
                </a:solidFill>
                <a:latin typeface="Calibri"/>
              </a:rPr>
              <a:t>Why client-side?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CA3AF"/>
                </a:solidFill>
                <a:latin typeface="Calibri"/>
              </a:rPr>
              <a:t>• User-supplied API keys never leave the browser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CA3AF"/>
                </a:solidFill>
                <a:latin typeface="Calibri"/>
              </a:rPr>
              <a:t>• No GPU cost on our backend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CA3AF"/>
                </a:solidFill>
                <a:latin typeface="Calibri"/>
              </a:rPr>
              <a:t>• Easy provider switch — Gemini / OpenRouter / Claude / GPT-4o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103120"/>
            <a:ext cx="2468880" cy="169164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2286000"/>
            <a:ext cx="2103120" cy="3200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Google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74320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Gemini 1.5 Pro</a:t>
            </a:r>
          </a:p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Gemini 2.0 Flash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103120"/>
            <a:ext cx="2468880" cy="169164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64040" y="2286000"/>
            <a:ext cx="210312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Anthropic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74320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Claude 3.5 Sonnet</a:t>
            </a:r>
          </a:p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Claude 3 Opus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931920"/>
            <a:ext cx="2468880" cy="169164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0" y="4114800"/>
            <a:ext cx="2103120" cy="3200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57200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GPT-4o</a:t>
            </a:r>
          </a:p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GPT-4o-mini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3931920"/>
            <a:ext cx="2468880" cy="169164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64040" y="4114800"/>
            <a:ext cx="2103120" cy="32004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457200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Llama 3.1 405B</a:t>
            </a:r>
          </a:p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via OpenRouter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5486400"/>
            <a:ext cx="5074920" cy="777240"/>
          </a:xfrm>
          <a:prstGeom prst="roundRect">
            <a:avLst>
              <a:gd name="adj" fmla="val 8000"/>
            </a:avLst>
          </a:prstGeom>
          <a:solidFill>
            <a:srgbClr val="121A28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57784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8B5CF6"/>
                </a:solidFill>
                <a:latin typeface="Consolas"/>
              </a:rPr>
              <a:t>PROMPT  =  voted transcript  +  align metadata  +  OOV candidates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13 / 32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Four tiers, one rendezvous registry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report_fig_4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7315200" cy="198851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2011680"/>
            <a:ext cx="3383280" cy="96012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21488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Inference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4688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Kaggle GPU notebooks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+ ngrok HTTPS tunnels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383280" cy="96012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66760" y="32004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Backend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5204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FastAPI · /align /oov /correct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+ Model registry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114800"/>
            <a:ext cx="3383280" cy="96012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4251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Frontend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5720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Next.js · React · 4-pass UI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Client-side LLM 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5166360"/>
            <a:ext cx="3383280" cy="96012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66760" y="53035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Data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6235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HuggingFace Hub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5E7EB"/>
                </a:solidFill>
                <a:latin typeface="Calibri"/>
              </a:rPr>
              <a:t>+ DuckDB n-gram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14 / 32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SYSTEM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Self-registration · heartbeats · async fan-out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report_fig_4_2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8229600" cy="29226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61120" y="210312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98280" y="2212848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Self-registration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523744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E5E7EB"/>
                </a:solidFill>
                <a:latin typeface="Calibri"/>
              </a:rPr>
              <a:t>Kaggle notebooks POST /registry/register on boot · ping every 60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2004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98280" y="3310128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Fan-out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621024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E5E7EB"/>
                </a:solidFill>
                <a:latin typeface="Calibri"/>
              </a:rPr>
              <a:t>POST /registry/transcribe dispatches audio to every live model in parallel · httpx.AsyncClient · 60 s timeout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29768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98280" y="4407408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Eviction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4718304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E5E7EB"/>
                </a:solidFill>
                <a:latin typeface="Calibri"/>
              </a:rPr>
              <a:t>Registry sweep every 20 s drops sessions silent for &gt;300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539496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98280" y="5504688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5815584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E5E7EB"/>
                </a:solidFill>
                <a:latin typeface="Calibri"/>
              </a:rPr>
              <a:t>X-Registry-Token for register/ping · X-API-Token on transcribe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7220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9CA3AF"/>
                </a:solidFill>
                <a:latin typeface="Calibri"/>
              </a:rPr>
              <a:t>Each ASR model runs on its own Kaggle GPU notebook behind a private ngrok HTTPS tunnel; the backend registry is the rendezvous point.  The browser talks only to the backend (and, for Stage 4, directly to the LLM provider).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15 / 32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Modern, lean, production-ready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103120"/>
            <a:ext cx="2788920" cy="42976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23317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FastAPI 0.109 · uvicorn 0.23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rapidfuzz 3.6 (Levenshtein)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joblib 1.3 (BK-tree)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duckdb 0.10 + pyarrow 14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huggingface_hub 0.20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httpx 0.26 (async)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HuggingFace Spaces deploy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Docker (port 7860)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788920" cy="42976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24028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97480"/>
            <a:ext cx="23317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Next.js 16 · App Router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React 19 · TypeScript 5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TailwindCSS v4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Multi-page R&amp;D site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Dark cinematic theme · aurora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Animated waveform · particles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MediaRecorder API · localStorage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GPT-OSS chat endpoint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03120"/>
            <a:ext cx="2788920" cy="42976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224028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97480"/>
            <a:ext cx="23317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transformers (HF) · torch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librosa · soundfile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Kaggle GPU notebooks (T4)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ngrok HTTPS tunnels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Whisper-Large-v3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SeamlessM4T-v2-Large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Wav2Vec2-Urdu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Model registry auto-register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03120"/>
            <a:ext cx="2788920" cy="42976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18320" y="224028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697480"/>
            <a:ext cx="23317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jiwer (WER/CER)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Common Voice Urdu (2,995)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Conversational Urdu (500)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8-step ablation (C0→C7)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Residual error annotation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matplotlib + seaborn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LaTeX + TikZ (this report)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•  Reproducible eval TSV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16 / 32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EVALUATION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Two benchmarks, four configurations, every component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10312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162A42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5E7EB"/>
                </a:solidFill>
                <a:latin typeface="Calibri"/>
              </a:rPr>
              <a:t>Common Voice Urdu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ECDC4"/>
                </a:solidFill>
                <a:latin typeface="Calibri"/>
              </a:rPr>
              <a:t>2,995 read-speech utterances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CA3AF"/>
                </a:solidFill>
                <a:latin typeface="Calibri"/>
              </a:rPr>
              <a:t>Public, Mozilla-curated, read passages.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0312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162A42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5E7EB"/>
                </a:solidFill>
                <a:latin typeface="Calibri"/>
              </a:rPr>
              <a:t>Conversational Urdu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6B6B"/>
                </a:solidFill>
                <a:latin typeface="Calibri"/>
              </a:rPr>
              <a:t>500 conversational clips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CA3AF"/>
                </a:solidFill>
                <a:latin typeface="Calibri"/>
              </a:rPr>
              <a:t>Spontaneous speech with code-switching.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ECDC4"/>
                </a:solidFill>
                <a:latin typeface="Calibri"/>
              </a:rPr>
              <a:t>Pipeline configurations evaluated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80560"/>
            <a:ext cx="2697480" cy="173736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190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617720"/>
            <a:ext cx="2331720" cy="32004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untouched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Raw ASR output, no post-processing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480560"/>
            <a:ext cx="2697480" cy="173736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1905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11880" y="4617720"/>
            <a:ext cx="2331720" cy="32004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norm_baseline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50292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Stage 0 normalisation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480560"/>
            <a:ext cx="2697480" cy="173736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4617720"/>
            <a:ext cx="2331720" cy="32004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robust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0292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Stages 0–3 (normalise + align + OOV + vote)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4480560"/>
            <a:ext cx="2697480" cy="173736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20" y="4617720"/>
            <a:ext cx="2331720" cy="3200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rrf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50292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Reciprocal-rank-fusion variant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17 / 32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RESULTS · COMMON VOICE (READ SPEECH)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WER reductions across every model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eval_wer_grou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772400" cy="42273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ECDC4"/>
                </a:solidFill>
                <a:latin typeface="Calibri"/>
              </a:rPr>
              <a:t>WER · untouched → robust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37744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246888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Seamless-L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7614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18.45% → 14.34%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971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B6B"/>
                </a:solidFill>
                <a:latin typeface="Calibri"/>
              </a:rPr>
              <a:t>22.3% 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3310128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1905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40156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Whisper-Large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6941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28.29% → 19.97%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9044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D93D"/>
                </a:solidFill>
                <a:latin typeface="Calibri"/>
              </a:rPr>
              <a:t>29.4% 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242816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1905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433425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Whisper-Med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268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40.44% → 30.64%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8371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ECDC4"/>
                </a:solidFill>
                <a:latin typeface="Calibri"/>
              </a:rPr>
              <a:t>24.2% 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5175504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526694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Wav2Vec2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55595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53.52% → 39.67%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7698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B5CF6"/>
                </a:solidFill>
                <a:latin typeface="Calibri"/>
              </a:rPr>
              <a:t>25.9% 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18 / 32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RESULTS · CER ON THE SAME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Character-level errors fall too — the gains aren't an artefact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eval_cer_grou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7498079" cy="40781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ECDC4"/>
                </a:solidFill>
                <a:latin typeface="Calibri"/>
              </a:rPr>
              <a:t>Why CER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423160"/>
            <a:ext cx="32918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Character Error Rate is robust to tokenisation choices.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If CER falls in lockstep with WER, we know we're correcting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real recognition errors — not gaming a token-boundary metric.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6B6B"/>
                </a:solidFill>
                <a:latin typeface="Calibri"/>
              </a:rPr>
              <a:t>Highlight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2120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Wav2Vec2 CER falls from 36.2% → 30.4%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Whisper-Large CER falls from 16.4% → 13.8%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19 / 32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RELATIVE WER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How much of each model's WER did CORAL erase?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eval_relative_wer_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7772400" cy="4525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0" y="2194560"/>
            <a:ext cx="3108960" cy="82296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D93D"/>
                </a:solidFill>
                <a:latin typeface="Calibri"/>
              </a:rPr>
              <a:t>29.4%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22860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Whisper-Large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3108960"/>
            <a:ext cx="3108960" cy="82296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32004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B5CF6"/>
                </a:solidFill>
                <a:latin typeface="Calibri"/>
              </a:rPr>
              <a:t>25.9%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32004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Wav2Vec2-Urdu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4023360"/>
            <a:ext cx="3108960" cy="82296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41148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4ECDC4"/>
                </a:solidFill>
                <a:latin typeface="Calibri"/>
              </a:rPr>
              <a:t>24.2%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41148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Whisper-Med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4937760"/>
            <a:ext cx="3108960" cy="82296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50292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6B6B"/>
                </a:solidFill>
                <a:latin typeface="Calibri"/>
              </a:rPr>
              <a:t>22.3%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50292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Seamless-L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8521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9CA3AF"/>
                </a:solidFill>
                <a:latin typeface="Calibri"/>
              </a:rPr>
              <a:t>The weaker the underlying ASR, the more headroom CORAL captures —</a:t>
            </a:r>
          </a:p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9CA3AF"/>
                </a:solidFill>
                <a:latin typeface="Calibri"/>
              </a:rPr>
              <a:t>but even Seamless-Large (state-of-the-art) gains 4 absolute WER points.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20 / 32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ABLATION · CONVERSATIONAL URDU (500 CLIPS)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C0 → C7  ·  every stage adds independent value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fyp2_ablation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7498079" cy="34813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ECDC4"/>
                </a:solidFill>
                <a:latin typeface="Calibri"/>
              </a:rPr>
              <a:t>Per-stage WER contribution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468880"/>
            <a:ext cx="3291840" cy="59436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57860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Stage 0 normalise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25786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-1.9 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127248"/>
            <a:ext cx="3291840" cy="59436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23697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Stage 1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323697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4ECDC4"/>
                </a:solidFill>
                <a:latin typeface="Calibri"/>
              </a:rPr>
              <a:t>-1.1 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785616"/>
            <a:ext cx="3291840" cy="59436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89534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Stage 2 OOV+BK-tree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389534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FFD93D"/>
                </a:solidFill>
                <a:latin typeface="Calibri"/>
              </a:rPr>
              <a:t>-1.2 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4443984"/>
            <a:ext cx="3291840" cy="59436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45537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Stage 3 voting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45537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10B981"/>
                </a:solidFill>
                <a:latin typeface="Calibri"/>
              </a:rPr>
              <a:t>-1.5 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5102352"/>
            <a:ext cx="3291840" cy="59436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5212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E7EB"/>
                </a:solidFill>
                <a:latin typeface="Calibri"/>
              </a:rPr>
              <a:t>Stage 4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52120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-2.5 pts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5760720"/>
            <a:ext cx="3291840" cy="59436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580644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Total  ·  19.8% → 10.6% 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21 / 32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PIPELINE PROGRESSION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WER drops monotonically as each stage is added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eval_pipeline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20240"/>
            <a:ext cx="9418320" cy="5478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85216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50" b="0" i="1">
                <a:solidFill>
                  <a:srgbClr val="9CA3AF"/>
                </a:solidFill>
                <a:latin typeface="Calibri"/>
              </a:rPr>
              <a:t>Every additional stage in the CORAL pipeline reduces the WER on the conversational benchmark. The curve is monotone — there is no point at which adding a stage "undoes" upstream 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22 / 32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THE SPLIT/MERGE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36.5% of inter-model events are word-boundary disagreement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splitmer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6858000" cy="5748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20116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ECDC4"/>
                </a:solidFill>
                <a:latin typeface="Calibri"/>
              </a:rPr>
              <a:t>What this chart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23160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Across all alignment events on the 500-clip Conversational Urdu sample, SPLIT and MERGE together exceed any single substitution type.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6576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6B6B"/>
                </a:solidFill>
                <a:latin typeface="Calibri"/>
              </a:rPr>
              <a:t>Why ROVER struggles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023360"/>
            <a:ext cx="3931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ROVER's WCN edit-distance treats SPLIT as substitution-then-insertion and MERGE as deletion. The voting signal degrades exactly where it matters most.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4406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CORAL's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80644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Character-level secondary alignment recovers SAME/SPLIT/MERGE/NOISE labels explicitly — Stage 3 then treats them with appropriate semantics.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23 / 32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RESIDUAL ERROR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What's left after CORAL — and where to dig next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residual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6858000" cy="396977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2011680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214884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6B6B"/>
                </a:solidFill>
                <a:latin typeface="Calibri"/>
              </a:rPr>
              <a:t>27.7%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0848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5E7EB"/>
                </a:solidFill>
                <a:latin typeface="Calibri"/>
              </a:rPr>
              <a:t>Proper nouns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3591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9CA3AF"/>
                </a:solidFill>
                <a:latin typeface="Calibri"/>
              </a:rPr>
              <a:t>Named-entity gazetteer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724912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862072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D93D"/>
                </a:solidFill>
                <a:latin typeface="Calibri"/>
              </a:rPr>
              <a:t>21.5%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980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5E7EB"/>
                </a:solidFill>
                <a:latin typeface="Calibri"/>
              </a:rPr>
              <a:t>Code-switching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07238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9CA3AF"/>
                </a:solidFill>
                <a:latin typeface="Calibri"/>
              </a:rPr>
              <a:t>Stage 0 strips English — by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438144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357530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ECDC4"/>
                </a:solidFill>
                <a:latin typeface="Calibri"/>
              </a:rPr>
              <a:t>13.4%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5112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5E7EB"/>
                </a:solidFill>
                <a:latin typeface="Calibri"/>
              </a:rPr>
              <a:t>Dialectal 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78561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9CA3AF"/>
                </a:solidFill>
                <a:latin typeface="Calibri"/>
              </a:rPr>
              <a:t>Limited corpus coverage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151376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4288536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0B981"/>
                </a:solidFill>
                <a:latin typeface="Calibri"/>
              </a:rPr>
              <a:t>9.8%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224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5E7EB"/>
                </a:solidFill>
                <a:latin typeface="Calibri"/>
              </a:rPr>
              <a:t>Numerals &amp; 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4988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9CA3AF"/>
                </a:solidFill>
                <a:latin typeface="Calibri"/>
              </a:rPr>
              <a:t>Acoustic ambiguity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864608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5001768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8B5CF6"/>
                </a:solidFill>
                <a:latin typeface="Calibri"/>
              </a:rPr>
              <a:t>7.2%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937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5E7EB"/>
                </a:solidFill>
                <a:latin typeface="Calibri"/>
              </a:rPr>
              <a:t>Over-correction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2120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9CA3AF"/>
                </a:solidFill>
                <a:latin typeface="Calibri"/>
              </a:rPr>
              <a:t>Top-1 BK-tree too greedy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5577840"/>
            <a:ext cx="3931920" cy="64008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57150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9CA3AF"/>
                </a:solidFill>
                <a:latin typeface="Calibri"/>
              </a:rPr>
              <a:t>20.4%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650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5E7EB"/>
                </a:solidFill>
                <a:latin typeface="Calibri"/>
              </a:rPr>
              <a:t>Other / acoustic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59253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9CA3AF"/>
                </a:solidFill>
                <a:latin typeface="Calibri"/>
              </a:rPr>
              <a:t>Genuine recognition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24 / 32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HEAD-TO-HEAD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CORAL vs ROVER and the closest concurrent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011680"/>
            <a:ext cx="11430000" cy="50292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ECDC4"/>
                </a:solidFill>
                <a:latin typeface="Calibri"/>
              </a:rPr>
              <a:t>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1031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ECDC4"/>
                </a:solidFill>
                <a:latin typeface="Calibri"/>
              </a:rPr>
              <a:t>Conv. Urdu 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10312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ECDC4"/>
                </a:solidFill>
                <a:latin typeface="Calibri"/>
              </a:rP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2103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ECDC4"/>
                </a:solidFill>
                <a:latin typeface="Calibri"/>
              </a:rPr>
              <a:t>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51760"/>
            <a:ext cx="11430000" cy="685800"/>
          </a:xfrm>
          <a:prstGeom prst="roundRect">
            <a:avLst>
              <a:gd name="adj" fmla="val 5000"/>
            </a:avLst>
          </a:prstGeom>
          <a:solidFill>
            <a:srgbClr val="162A42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Whisper-Large (raw)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74320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9CA3AF"/>
                </a:solidFill>
                <a:latin typeface="Calibri"/>
              </a:rPr>
              <a:t>19.8%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743200"/>
            <a:ext cx="3749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Single-model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7432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1× ASR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11430000" cy="685800"/>
          </a:xfrm>
          <a:prstGeom prst="roundRect">
            <a:avLst>
              <a:gd name="adj" fmla="val 5000"/>
            </a:avLst>
          </a:prstGeom>
          <a:solidFill>
            <a:srgbClr val="162A42"/>
          </a:solidFill>
          <a:ln w="9525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2044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ROVER (English-style)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35204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D93D"/>
                </a:solidFill>
                <a:latin typeface="Calibri"/>
              </a:rPr>
              <a:t>18.2%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520440"/>
            <a:ext cx="3749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WCN voting on raw hypotheses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5204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1× align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06240"/>
            <a:ext cx="11430000" cy="685800"/>
          </a:xfrm>
          <a:prstGeom prst="roundRect">
            <a:avLst>
              <a:gd name="adj" fmla="val 5000"/>
            </a:avLst>
          </a:prstGeom>
          <a:solidFill>
            <a:srgbClr val="162A42"/>
          </a:solidFill>
          <a:ln w="9525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9768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Multi-ASR + SpeechLLM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42976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ECDC4"/>
                </a:solidFill>
                <a:latin typeface="Calibri"/>
              </a:rPr>
              <a:t>11.3%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297680"/>
            <a:ext cx="3749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Heavy SpeechLLM audio re-inference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42976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+ SpeechLLM pass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983480"/>
            <a:ext cx="11430000" cy="685800"/>
          </a:xfrm>
          <a:prstGeom prst="roundRect">
            <a:avLst>
              <a:gd name="adj" fmla="val 5000"/>
            </a:avLst>
          </a:prstGeom>
          <a:solidFill>
            <a:srgbClr val="162A42"/>
          </a:solidFill>
          <a:ln w="952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749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CORAL  (this work)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50749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6B6B"/>
                </a:solidFill>
                <a:latin typeface="Calibri"/>
              </a:rPr>
              <a:t>10.6%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5074920"/>
            <a:ext cx="3749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5-stage post-processing · text-only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50749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+ 200 ms / utt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FFD93D"/>
                </a:solidFill>
                <a:latin typeface="Calibri"/>
              </a:rPr>
              <a:t>CORAL beats Multi-ASR + SpeechLLM by 0.7 absolute WER points without running an additional audio-input LLM — entirely as text-level post-processing.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25 / 32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KEY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Seven concrete wins from CORAL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103120"/>
            <a:ext cx="5486400" cy="13258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164592" cy="1325880"/>
          </a:xfrm>
          <a:prstGeom prst="roundRect">
            <a:avLst>
              <a:gd name="adj" fmla="val 4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Novel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CA3AF"/>
                </a:solidFill>
                <a:latin typeface="Calibri"/>
              </a:rPr>
              <a:t>First Urdu-aware split-merge alignment with weighted Levenshtein.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03120"/>
            <a:ext cx="5486400" cy="13258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103120"/>
            <a:ext cx="164592" cy="1325880"/>
          </a:xfrm>
          <a:prstGeom prst="roundRect">
            <a:avLst>
              <a:gd name="adj" fmla="val 40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402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SOTA Beat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97480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CA3AF"/>
                </a:solidFill>
                <a:latin typeface="Calibri"/>
              </a:rPr>
              <a:t>10.6% WER on Conversational Urdu — beats Multi-ASR+SpeechLLM (11.3%).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5486400" cy="13258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164592" cy="1325880"/>
          </a:xfrm>
          <a:prstGeom prst="roundRect">
            <a:avLst>
              <a:gd name="adj" fmla="val 4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033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Zero Retraining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60520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CA3AF"/>
                </a:solidFill>
                <a:latin typeface="Calibri"/>
              </a:rPr>
              <a:t>All gains delivered at inference time. No acoustic-model fine-tune.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566160"/>
            <a:ext cx="5486400" cy="13258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3566160"/>
            <a:ext cx="164592" cy="132588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7033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Reproducible 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CA3AF"/>
                </a:solidFill>
                <a:latin typeface="Calibri"/>
              </a:rPr>
              <a:t>Open TSV with 16 (model × config) WER+CER rows.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5486400" cy="13258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5029200"/>
            <a:ext cx="164592" cy="132588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1663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Deployed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623560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CA3AF"/>
                </a:solidFill>
                <a:latin typeface="Calibri"/>
              </a:rPr>
              <a:t>FastAPI + Next.js, with Kaggle-GPU registry &amp; ngrok fan-out.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029200"/>
            <a:ext cx="5486400" cy="13258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55080" y="5029200"/>
            <a:ext cx="164592" cy="132588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51663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Compositional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623560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CA3AF"/>
                </a:solidFill>
                <a:latin typeface="Calibri"/>
              </a:rPr>
              <a:t>Every stage adds independent, additive WER reduction.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26 / 32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10 directions for follow-up research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10312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6B6B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1965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Confidence-weighted voting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10312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331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D93D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971800"/>
            <a:ext cx="1965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Code-switching-aware Stage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10312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331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4ECDC4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971800"/>
            <a:ext cx="1965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Named-entity gazetteer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10312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331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8B5CF6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971800"/>
            <a:ext cx="1965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LLM top-K OOV re-rank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10312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331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0B981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971800"/>
            <a:ext cx="1965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Split/Merge in voting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59E0B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37760"/>
            <a:ext cx="1965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Learned cross-arch confidence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406908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42976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3B82F6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937760"/>
            <a:ext cx="1965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Larger conversational eval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406908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42976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6B6B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937760"/>
            <a:ext cx="1965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Real-time streaming variant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406908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42976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FFD93D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4937760"/>
            <a:ext cx="1965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Other low-resource SA langs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92640" y="4069080"/>
            <a:ext cx="2240280" cy="17830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42976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4ECDC4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937760"/>
            <a:ext cx="1965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Open-source release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27 / 32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6B6B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4ECDC4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ECDC4"/>
                </a:solidFill>
                <a:latin typeface="Calibr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 b="1" i="0">
                <a:solidFill>
                  <a:srgbClr val="E5E7EB"/>
                </a:solidFill>
                <a:latin typeface="Calibri"/>
              </a:rPr>
              <a:t>From audio to corrected Urdu.</a:t>
            </a:r>
          </a:p>
          <a:p>
            <a:pPr algn="l">
              <a:lnSpc>
                <a:spcPct val="110000"/>
              </a:lnSpc>
            </a:pPr>
            <a:r>
              <a:rPr sz="6000" b="1" i="0">
                <a:solidFill>
                  <a:srgbClr val="E5E7EB"/>
                </a:solidFill>
                <a:latin typeface="Calibri"/>
              </a:rPr>
              <a:t>In 4 user-facing passes.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CA3AF"/>
                </a:solidFill>
                <a:latin typeface="Calibri"/>
              </a:rPr>
              <a:t>1.  Speech upload   →   2. Alignment scan   →   3. OOV sieve animation   →   4. Voting / LLM diff</a:t>
            </a:r>
          </a:p>
        </p:txBody>
      </p:sp>
    </p:spTree>
  </p:cSld>
  <p:clrMapOvr>
    <a:masterClrMapping/>
  </p:clrMapOvr>
  <p:transition spd="med">
    <p:push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FRONTEND — R&amp;D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Five-page Next.js platform · dark cinematic theme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011680"/>
            <a:ext cx="2249424" cy="22402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1975104" cy="32004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Landing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8836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Hero · waveform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KPIs · pipeline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results · stack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88336" y="3017520"/>
            <a:ext cx="146304" cy="27432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16352" y="2011680"/>
            <a:ext cx="2249424" cy="22402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53512" y="2103120"/>
            <a:ext cx="1975104" cy="32004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/pipeline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514600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926080"/>
            <a:ext cx="18836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Stage 00 → 04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examples + metrics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flow diagram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47488" y="3017520"/>
            <a:ext cx="146304" cy="27432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75504" y="2011680"/>
            <a:ext cx="2249424" cy="22402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12664" y="2103120"/>
            <a:ext cx="1975104" cy="32004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/research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2514600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926080"/>
            <a:ext cx="18836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Hypothesis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ablation chart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residuals · future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406640" y="3017520"/>
            <a:ext cx="146304" cy="27432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34656" y="2011680"/>
            <a:ext cx="2249424" cy="22402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71816" y="2103120"/>
            <a:ext cx="1975104" cy="3200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/team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2514600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7536" y="2926080"/>
            <a:ext cx="18836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Members + supervisors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FAST School of Computing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photos + socials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765792" y="3017520"/>
            <a:ext cx="146304" cy="274320"/>
          </a:xfrm>
          <a:prstGeom prst="right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93808" y="2011680"/>
            <a:ext cx="2249424" cy="2240280"/>
          </a:xfrm>
          <a:prstGeom prst="roundRect">
            <a:avLst>
              <a:gd name="adj" fmla="val 7000"/>
            </a:avLst>
          </a:prstGeom>
          <a:solidFill>
            <a:srgbClr val="162A42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30968" y="2103120"/>
            <a:ext cx="1975104" cy="3200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/app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2514600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5E7EB"/>
                </a:solidFill>
                <a:latin typeface="Calibri"/>
              </a:rPr>
              <a:t>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2926080"/>
            <a:ext cx="188366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3-pass interactive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file · speech · manual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LLM refinement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4348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ECDC4"/>
                </a:solidFill>
                <a:latin typeface="Calibri"/>
              </a:rPr>
              <a:t>Interactive demo — 3-pass workflow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00600"/>
            <a:ext cx="3803904" cy="1371600"/>
          </a:xfrm>
          <a:prstGeom prst="roundRect">
            <a:avLst>
              <a:gd name="adj" fmla="val 6000"/>
            </a:avLst>
          </a:prstGeom>
          <a:solidFill>
            <a:srgbClr val="162A42"/>
          </a:solidFill>
          <a:ln w="952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8920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Pass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86460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Alignment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12080"/>
            <a:ext cx="343814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Input audio (mic / MP3) or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pre-aligned TSV → /align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98264" y="4800600"/>
            <a:ext cx="3803904" cy="1371600"/>
          </a:xfrm>
          <a:prstGeom prst="roundRect">
            <a:avLst>
              <a:gd name="adj" fmla="val 6000"/>
            </a:avLst>
          </a:prstGeom>
          <a:solidFill>
            <a:srgbClr val="162A42"/>
          </a:solidFill>
          <a:ln w="9525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81144" y="48920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Pass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4104" y="486460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OOV Sieve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5212080"/>
            <a:ext cx="343814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Animated 4-phase BK-tree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scan + n-gram re-rank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39328" y="4800600"/>
            <a:ext cx="3803904" cy="1371600"/>
          </a:xfrm>
          <a:prstGeom prst="roundRect">
            <a:avLst>
              <a:gd name="adj" fmla="val 6000"/>
            </a:avLst>
          </a:prstGeom>
          <a:solidFill>
            <a:srgbClr val="162A42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522208" y="48920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Pass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486460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E7EB"/>
                </a:solidFill>
                <a:latin typeface="Calibri"/>
              </a:rPr>
              <a:t>Correction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5212080"/>
            <a:ext cx="343814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Voting · LLM (GPT-OSS)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side-by-side diff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3093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9CA3AF"/>
                </a:solidFill>
                <a:latin typeface="Calibri"/>
              </a:rPr>
              <a:t>Dark cinematic theme  •  animated waveform hero  •  aurora gradients  •  particle field  •  staggered reveals  •  localStorage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29 / 32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Everything shipped with CORAL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10312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5-stage Python pipeline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FastAPI + Docker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28600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8892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Next.js + React app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File + Speech modes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Kaggle ASR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GPU notebooks (Whisper-L, Seamless-L)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self-register via ngrok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10312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228600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78892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60-s heartbeats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300-s eviction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8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5488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WER + CER · 4 configs × 4 models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ensemble_correction_eval.tsv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406908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425196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75488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BK-tree.joblib + n-gram Parquet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HF-hosted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06908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425196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5488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97-page LaTeX report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+ FYP-1 &amp; FYP-2 PDFs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4069080"/>
            <a:ext cx="2788920" cy="182880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254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35440" y="425196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75488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E5E7EB"/>
                </a:solidFill>
                <a:latin typeface="Calibri"/>
              </a:rPr>
              <a:t>Open code + permissive licence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30 / 32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377440" cy="237744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194560" cy="2194560"/>
          </a:xfrm>
          <a:prstGeom prst="ellipse">
            <a:avLst/>
          </a:prstGeom>
          <a:solidFill>
            <a:srgbClr val="4ECDC4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6B6B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5E7EB"/>
                </a:solidFill>
                <a:latin typeface="Calibri"/>
              </a:rPr>
              <a:t>What CORAL proves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91640"/>
            <a:ext cx="1097280" cy="0"/>
          </a:xfrm>
          <a:prstGeom prst="line">
            <a:avLst/>
          </a:prstGeom>
          <a:ln w="508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10312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350008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4028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Word-boundary disagreement is the dominant inter-model error mode in Urdu ASR.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4EC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3218688"/>
            <a:ext cx="292608" cy="292608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10896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It can be solved algorithmically — Stages 0-3 cut WER by 6.2 absolute points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4087368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97764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An LLM is most useful as the LAST refinement step, not the primary fusion engine.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495604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Compositional design wins: every stage's gain is additive — none cancel.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162A42"/>
          </a:solidFill>
          <a:ln w="9525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5824728"/>
            <a:ext cx="292608" cy="292608"/>
          </a:xfrm>
          <a:prstGeom prst="ellipse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1500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Hypothesis confirmed: 5 levers + no fine-tuning  →  10.6% Conv. Urdu WER.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CORAL  |  Consensus-Based Refinement and Output Realignment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31 / 32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1828800"/>
            <a:ext cx="7315200" cy="7315200"/>
          </a:xfrm>
          <a:prstGeom prst="ellipse">
            <a:avLst/>
          </a:prstGeom>
          <a:solidFill>
            <a:srgbClr val="FF6B6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4ECDC4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 i="0">
                <a:solidFill>
                  <a:srgbClr val="E5E7EB"/>
                </a:solidFill>
                <a:latin typeface="Calibri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E5E7EB"/>
                </a:solidFill>
                <a:latin typeface="Calibri"/>
              </a:rPr>
              <a:t>Questions, comments, or constructive disagreement — all welcome.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3776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162A42"/>
          </a:solidFill>
          <a:ln w="952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6B6B"/>
                </a:solidFill>
                <a:latin typeface="Calibri"/>
              </a:rPr>
              <a:t>CORAL  •  CORAL-Urdu-ASR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Ali Irfan  21I-2572   •   Nouman Hafeez  21I-0416   •   Rafay Khattak  21I-0423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Dept. of Computer Science · FAST School of Computing · FAST-NUCES Islamabad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Supervised by Ms. Kainat Iqbal · co-supervised by Ms. Saira Qamar  (AI &amp; Data Science)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