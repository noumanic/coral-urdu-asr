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5" r:id="rId19"/>
    <p:sldId id="276" r:id="rId20"/>
    <p:sldId id="278" r:id="rId21"/>
    <p:sldId id="281" r:id="rId22"/>
    <p:sldId id="283" r:id="rId23"/>
    <p:sldId id="284" r:id="rId24"/>
    <p:sldId id="285" r:id="rId25"/>
    <p:sldId id="287" r:id="rId2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93" autoAdjust="0"/>
    <p:restoredTop sz="94660"/>
  </p:normalViewPr>
  <p:slideViewPr>
    <p:cSldViewPr snapToGrid="0" snapToObjects="1">
      <p:cViewPr varScale="1">
        <p:scale>
          <a:sx n="102" d="100"/>
          <a:sy n="102" d="100"/>
        </p:scale>
        <p:origin x="296" y="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821B3A4-D567-4D67-8C66-5D651D96C2B2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3B6D19C-593A-4C57-B7A1-25373767D7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46373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</a:t>
            </a:r>
            <a:r>
              <a:rPr lang="en-US" dirty="0" err="1"/>
              <a:t>basline</a:t>
            </a:r>
            <a:r>
              <a:rPr lang="en-US" dirty="0"/>
              <a:t> word error rate for each model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B6D19C-593A-4C57-B7A1-25373767D7CC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416577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distribution of our split-merge algorithm on the samples that we used.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B6D19C-593A-4C57-B7A1-25373767D7CC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815046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our frontend endpoints, the landing page </a:t>
            </a:r>
            <a:r>
              <a:rPr lang="en-US" dirty="0" err="1"/>
              <a:t>page</a:t>
            </a:r>
            <a:r>
              <a:rPr lang="en-US" dirty="0"/>
              <a:t>, pipeline, research, team and the interactive demo passes endpoint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B6D19C-593A-4C57-B7A1-25373767D7CC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366932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Everything is maintained on the DevOps platform that we used – GitHub!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B6D19C-593A-4C57-B7A1-25373767D7CC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430293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 last, we thank our supervisors for this continuous guidance and the panel members as well for this continuous feedback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B6D19C-593A-4C57-B7A1-25373767D7CC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712378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jp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9509760" y="-1371600"/>
            <a:ext cx="4114800" cy="4114800"/>
          </a:xfrm>
          <a:prstGeom prst="ellipse">
            <a:avLst/>
          </a:prstGeom>
          <a:solidFill>
            <a:srgbClr val="FF6B6B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-1828800" y="4572000"/>
            <a:ext cx="4114800" cy="4114800"/>
          </a:xfrm>
          <a:prstGeom prst="ellipse">
            <a:avLst/>
          </a:prstGeom>
          <a:solidFill>
            <a:srgbClr val="4ECDC4">
              <a:alpha val="3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0789920" y="5120640"/>
            <a:ext cx="2286000" cy="2286000"/>
          </a:xfrm>
          <a:prstGeom prst="ellipse">
            <a:avLst/>
          </a:prstGeom>
          <a:solidFill>
            <a:srgbClr val="FFD93D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40080" y="502920"/>
            <a:ext cx="4937760" cy="365760"/>
          </a:xfrm>
          <a:prstGeom prst="roundRect">
            <a:avLst>
              <a:gd name="adj" fmla="val 50000"/>
            </a:avLst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6200" tIns="25400" rIns="76200" bIns="2540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FAST-NUCES  •  FINAL YEAR PROJECT  •  2025-2026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1097280"/>
            <a:ext cx="1005840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600" b="1" i="0">
                <a:solidFill>
                  <a:srgbClr val="E5E7EB"/>
                </a:solidFill>
                <a:latin typeface="Calibri"/>
              </a:rPr>
              <a:t>CORAL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8880"/>
            <a:ext cx="1097280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 i="0">
                <a:solidFill>
                  <a:srgbClr val="E5E7EB"/>
                </a:solidFill>
                <a:latin typeface="Calibri"/>
              </a:rPr>
              <a:t>Consensus-Based Refinement and Output Realignment</a:t>
            </a:r>
          </a:p>
          <a:p>
            <a:pPr algn="l">
              <a:lnSpc>
                <a:spcPct val="120000"/>
              </a:lnSpc>
            </a:pPr>
            <a:r>
              <a:rPr sz="2400" b="0" i="0">
                <a:solidFill>
                  <a:srgbClr val="E5E7EB"/>
                </a:solidFill>
                <a:latin typeface="Calibri"/>
              </a:rPr>
              <a:t>for Low-Resource Urdu ASR Post-Processing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886200"/>
            <a:ext cx="100584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9CA3AF"/>
                </a:solidFill>
                <a:latin typeface="Calibri"/>
              </a:rPr>
              <a:t>A five-stage post-processing pipeline reducing Urdu ASR WER by up to 46.5% relative — without retraining any acoustic model.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937760"/>
            <a:ext cx="2468880" cy="1143000"/>
          </a:xfrm>
          <a:prstGeom prst="roundRect">
            <a:avLst>
              <a:gd name="adj" fmla="val 8000"/>
            </a:avLst>
          </a:prstGeom>
          <a:solidFill>
            <a:srgbClr val="162A42"/>
          </a:solidFill>
          <a:ln w="9525">
            <a:solidFill>
              <a:srgbClr val="374B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" y="4983480"/>
            <a:ext cx="24688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 i="0">
                <a:solidFill>
                  <a:srgbClr val="FF6B6B"/>
                </a:solidFill>
                <a:latin typeface="Calibri"/>
              </a:rPr>
              <a:t>46.5%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532120"/>
            <a:ext cx="24688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E5E7EB"/>
                </a:solidFill>
                <a:latin typeface="Calibri"/>
              </a:rPr>
              <a:t>Rel. WER ↓</a:t>
            </a:r>
          </a:p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E5E7EB"/>
                </a:solidFill>
                <a:latin typeface="Calibri"/>
              </a:rPr>
              <a:t>Conversational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37560" y="4937760"/>
            <a:ext cx="2468880" cy="1143000"/>
          </a:xfrm>
          <a:prstGeom prst="roundRect">
            <a:avLst>
              <a:gd name="adj" fmla="val 8000"/>
            </a:avLst>
          </a:prstGeom>
          <a:solidFill>
            <a:srgbClr val="162A42"/>
          </a:solidFill>
          <a:ln w="9525">
            <a:solidFill>
              <a:srgbClr val="374B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337560" y="4983480"/>
            <a:ext cx="24688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 i="0">
                <a:solidFill>
                  <a:srgbClr val="FF6B6B"/>
                </a:solidFill>
                <a:latin typeface="Calibri"/>
              </a:rPr>
              <a:t>22.3%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37560" y="5532120"/>
            <a:ext cx="24688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E5E7EB"/>
                </a:solidFill>
                <a:latin typeface="Calibri"/>
              </a:rPr>
              <a:t>Rel. WER ↓</a:t>
            </a:r>
          </a:p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E5E7EB"/>
                </a:solidFill>
                <a:latin typeface="Calibri"/>
              </a:rPr>
              <a:t>Common Voice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35040" y="4937760"/>
            <a:ext cx="2468880" cy="1143000"/>
          </a:xfrm>
          <a:prstGeom prst="roundRect">
            <a:avLst>
              <a:gd name="adj" fmla="val 8000"/>
            </a:avLst>
          </a:prstGeom>
          <a:solidFill>
            <a:srgbClr val="162A42"/>
          </a:solidFill>
          <a:ln w="9525">
            <a:solidFill>
              <a:srgbClr val="374B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035040" y="4983480"/>
            <a:ext cx="24688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 i="0">
                <a:solidFill>
                  <a:srgbClr val="FF6B6B"/>
                </a:solidFill>
                <a:latin typeface="Calibri"/>
              </a:rPr>
              <a:t>500K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35040" y="5532120"/>
            <a:ext cx="24688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E5E7EB"/>
                </a:solidFill>
                <a:latin typeface="Calibri"/>
              </a:rPr>
              <a:t>Word Urdu</a:t>
            </a:r>
          </a:p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E5E7EB"/>
                </a:solidFill>
                <a:latin typeface="Calibri"/>
              </a:rPr>
              <a:t>Corpus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732520" y="4937760"/>
            <a:ext cx="2468880" cy="1143000"/>
          </a:xfrm>
          <a:prstGeom prst="roundRect">
            <a:avLst>
              <a:gd name="adj" fmla="val 8000"/>
            </a:avLst>
          </a:prstGeom>
          <a:solidFill>
            <a:srgbClr val="162A42"/>
          </a:solidFill>
          <a:ln w="9525">
            <a:solidFill>
              <a:srgbClr val="374B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732520" y="4983480"/>
            <a:ext cx="24688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 i="0">
                <a:solidFill>
                  <a:srgbClr val="FF6B6B"/>
                </a:solidFill>
                <a:latin typeface="Calibri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32520" y="5532120"/>
            <a:ext cx="24688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E5E7EB"/>
                </a:solidFill>
                <a:latin typeface="Calibri"/>
              </a:rPr>
              <a:t>Pipeline</a:t>
            </a:r>
          </a:p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E5E7EB"/>
                </a:solidFill>
                <a:latin typeface="Calibri"/>
              </a:rPr>
              <a:t>Stages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26364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4ECDC4"/>
                </a:solidFill>
                <a:latin typeface="Calibri"/>
              </a:rPr>
              <a:t>Project Team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492240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E5E7EB"/>
                </a:solidFill>
                <a:latin typeface="Calibri"/>
              </a:rPr>
              <a:t>Ali Irfan  21I-2572   •   Nouman Hafeez  21I-0416   •   Rafay Khattak  21I-0423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38CFCE1D-B449-E1C7-CF21-29EA9FCEBE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775" y="378229"/>
            <a:ext cx="1035925" cy="116378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10607040" y="5486400"/>
            <a:ext cx="2377440" cy="2377440"/>
          </a:xfrm>
          <a:prstGeom prst="ellipse">
            <a:avLst/>
          </a:prstGeom>
          <a:solidFill>
            <a:srgbClr val="FF6B6B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-914400" y="-914400"/>
            <a:ext cx="2194560" cy="2194560"/>
          </a:xfrm>
          <a:prstGeom prst="ellipse">
            <a:avLst/>
          </a:prstGeom>
          <a:solidFill>
            <a:srgbClr val="4ECDC4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6B6B"/>
                </a:solidFill>
                <a:latin typeface="Calibri"/>
              </a:rPr>
              <a:t>MEET THE TEAM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1097280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E5E7EB"/>
                </a:solidFill>
                <a:latin typeface="Calibri"/>
              </a:rPr>
              <a:t>Three engineers. One Urdu ASR mission.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691640"/>
            <a:ext cx="1097280" cy="0"/>
          </a:xfrm>
          <a:prstGeom prst="line">
            <a:avLst/>
          </a:prstGeom>
          <a:ln w="50800">
            <a:solidFill>
              <a:srgbClr val="FF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40080" y="2011680"/>
            <a:ext cx="3657600" cy="3383280"/>
          </a:xfrm>
          <a:prstGeom prst="roundRect">
            <a:avLst>
              <a:gd name="adj" fmla="val 6000"/>
            </a:avLst>
          </a:prstGeom>
          <a:solidFill>
            <a:srgbClr val="162A42"/>
          </a:solidFill>
          <a:ln w="9525">
            <a:solidFill>
              <a:srgbClr val="374B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40080" y="2011680"/>
            <a:ext cx="3657600" cy="502920"/>
          </a:xfrm>
          <a:prstGeom prst="roundRect">
            <a:avLst>
              <a:gd name="adj" fmla="val 15000"/>
            </a:avLst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ali-irfa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7031" y="2724969"/>
            <a:ext cx="813816" cy="8138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920240" y="2743200"/>
            <a:ext cx="24688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E5E7EB"/>
                </a:solidFill>
                <a:latin typeface="Calibri"/>
              </a:rPr>
              <a:t>Ali Irfan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154680"/>
            <a:ext cx="2468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9CA3AF"/>
                </a:solidFill>
                <a:latin typeface="Calibri"/>
              </a:rPr>
              <a:t>21I-2572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3749039"/>
            <a:ext cx="3108960" cy="365760"/>
          </a:xfrm>
          <a:prstGeom prst="roundRect">
            <a:avLst>
              <a:gd name="adj" fmla="val 50000"/>
            </a:avLst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6200" tIns="25400" rIns="76200" bIns="25400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Pipeline architect • Backend &amp; deployment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251960"/>
            <a:ext cx="3108960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E5E7EB"/>
                </a:solidFill>
                <a:latin typeface="Calibri"/>
              </a:rPr>
              <a:t>Stage 1 weighted split-merge alignment</a:t>
            </a: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E5E7EB"/>
                </a:solidFill>
                <a:latin typeface="Calibri"/>
              </a:rPr>
              <a:t>FastAPI orchestrator • HuggingFace Space deployment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80560" y="2011680"/>
            <a:ext cx="3657600" cy="3383280"/>
          </a:xfrm>
          <a:prstGeom prst="roundRect">
            <a:avLst>
              <a:gd name="adj" fmla="val 6000"/>
            </a:avLst>
          </a:prstGeom>
          <a:solidFill>
            <a:srgbClr val="162A42"/>
          </a:solidFill>
          <a:ln w="9525">
            <a:solidFill>
              <a:srgbClr val="374B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4480560" y="2011680"/>
            <a:ext cx="3657600" cy="502920"/>
          </a:xfrm>
          <a:prstGeom prst="roundRect">
            <a:avLst>
              <a:gd name="adj" fmla="val 15000"/>
            </a:avLst>
          </a:prstGeom>
          <a:solidFill>
            <a:srgbClr val="4EC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9" name="Picture 18" descr="nouman-hafee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4024" y="2724911"/>
            <a:ext cx="813816" cy="81381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760720" y="2743200"/>
            <a:ext cx="24688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E5E7EB"/>
                </a:solidFill>
                <a:latin typeface="Calibri"/>
              </a:rPr>
              <a:t>Nouman Hafeez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60720" y="3154680"/>
            <a:ext cx="2468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9CA3AF"/>
                </a:solidFill>
                <a:latin typeface="Calibri"/>
              </a:rPr>
              <a:t>21I-0416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0" y="3749039"/>
            <a:ext cx="3108960" cy="365760"/>
          </a:xfrm>
          <a:prstGeom prst="roundRect">
            <a:avLst>
              <a:gd name="adj" fmla="val 50000"/>
            </a:avLst>
          </a:prstGeom>
          <a:solidFill>
            <a:srgbClr val="4EC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6200" tIns="25400" rIns="76200" bIns="25400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Corpus + retrieval • Web app • LLM strategy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4251960"/>
            <a:ext cx="3108960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E5E7EB"/>
                </a:solidFill>
                <a:latin typeface="Calibri"/>
              </a:rPr>
              <a:t>Stage 2 BK-tree + 500K n-gram corpus</a:t>
            </a: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E5E7EB"/>
                </a:solidFill>
                <a:latin typeface="Calibri"/>
              </a:rPr>
              <a:t>Full web app redesign • System architecture</a:t>
            </a: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E5E7EB"/>
                </a:solidFill>
                <a:latin typeface="Calibri"/>
              </a:rPr>
              <a:t>LLM research &amp; integration strategy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321040" y="2011680"/>
            <a:ext cx="3657600" cy="3383280"/>
          </a:xfrm>
          <a:prstGeom prst="roundRect">
            <a:avLst>
              <a:gd name="adj" fmla="val 6000"/>
            </a:avLst>
          </a:prstGeom>
          <a:solidFill>
            <a:srgbClr val="162A42"/>
          </a:solidFill>
          <a:ln w="9525">
            <a:solidFill>
              <a:srgbClr val="374B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8321040" y="2011680"/>
            <a:ext cx="3657600" cy="502920"/>
          </a:xfrm>
          <a:prstGeom prst="roundRect">
            <a:avLst>
              <a:gd name="adj" fmla="val 15000"/>
            </a:avLst>
          </a:prstGeom>
          <a:solidFill>
            <a:srgbClr val="FFD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7" name="Picture 26" descr="rafay-khatak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83615" y="2724969"/>
            <a:ext cx="813816" cy="813816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601200" y="2743200"/>
            <a:ext cx="24688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E5E7EB"/>
                </a:solidFill>
                <a:latin typeface="Calibri"/>
              </a:rPr>
              <a:t>Rafay Khattak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0" y="3154680"/>
            <a:ext cx="2468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9CA3AF"/>
                </a:solidFill>
                <a:latin typeface="Calibri"/>
              </a:rPr>
              <a:t>21I-0423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595360" y="3749039"/>
            <a:ext cx="3108960" cy="365760"/>
          </a:xfrm>
          <a:prstGeom prst="roundRect">
            <a:avLst>
              <a:gd name="adj" fmla="val 50000"/>
            </a:avLst>
          </a:prstGeom>
          <a:solidFill>
            <a:srgbClr val="FFD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6200" tIns="25400" rIns="76200" bIns="25400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Research pitch • Evaluation lead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95360" y="4251960"/>
            <a:ext cx="3108960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E5E7EB"/>
                </a:solidFill>
                <a:latin typeface="Calibri"/>
              </a:rPr>
              <a:t>Pitched the original CORAL research idea</a:t>
            </a: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E5E7EB"/>
                </a:solidFill>
                <a:latin typeface="Calibri"/>
              </a:rPr>
              <a:t>Evaluation methodology • C0→C7 ablation</a:t>
            </a: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E5E7EB"/>
                </a:solidFill>
                <a:latin typeface="Calibri"/>
              </a:rPr>
              <a:t>Residual-error analysis • WER/CER reporting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2960" y="5532120"/>
            <a:ext cx="10972800" cy="868680"/>
          </a:xfrm>
          <a:prstGeom prst="roundRect">
            <a:avLst>
              <a:gd name="adj" fmla="val 8000"/>
            </a:avLst>
          </a:prstGeom>
          <a:solidFill>
            <a:srgbClr val="162A42"/>
          </a:solidFill>
          <a:ln w="9525">
            <a:solidFill>
              <a:srgbClr val="374B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1066647" y="5596127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dirty="0">
                <a:solidFill>
                  <a:srgbClr val="4ECDC4"/>
                </a:solidFill>
                <a:latin typeface="Calibri"/>
              </a:rPr>
              <a:t>SUPERVISORS  •  ARTIFICIAL INTELLIGENCE &amp; DATA SCIENCE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24692" y="5833872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 dirty="0">
                <a:solidFill>
                  <a:srgbClr val="E5E7EB"/>
                </a:solidFill>
                <a:latin typeface="Calibri"/>
              </a:rPr>
              <a:t>Ms. Kainat Iqbal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71600" y="608076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 dirty="0">
                <a:solidFill>
                  <a:srgbClr val="9CA3AF"/>
                </a:solidFill>
                <a:latin typeface="Calibri"/>
              </a:rPr>
              <a:t>Supervisor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0" y="5833872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E5E7EB"/>
                </a:solidFill>
                <a:latin typeface="Calibri"/>
              </a:rPr>
              <a:t>Ms. Saira Qamar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608076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9CA3AF"/>
                </a:solidFill>
                <a:latin typeface="Calibri"/>
              </a:rPr>
              <a:t>Co-Supervisor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9CA3AF"/>
                </a:solidFill>
                <a:latin typeface="Calibri"/>
              </a:rPr>
              <a:t>CORAL  |  Consensus-Based Refinement and Output Realignment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9CA3AF"/>
                </a:solidFill>
                <a:latin typeface="Calibri"/>
              </a:rPr>
              <a:t>2 / 32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10607040" y="5486400"/>
            <a:ext cx="2377440" cy="2377440"/>
          </a:xfrm>
          <a:prstGeom prst="ellipse">
            <a:avLst/>
          </a:prstGeom>
          <a:solidFill>
            <a:srgbClr val="FF6B6B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-914400" y="-914400"/>
            <a:ext cx="2194560" cy="2194560"/>
          </a:xfrm>
          <a:prstGeom prst="ellipse">
            <a:avLst/>
          </a:prstGeom>
          <a:solidFill>
            <a:srgbClr val="4ECDC4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6B6B"/>
                </a:solidFill>
                <a:latin typeface="Calibri"/>
              </a:rPr>
              <a:t>AGENDA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1097280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E5E7EB"/>
                </a:solidFill>
                <a:latin typeface="Calibri"/>
              </a:rPr>
              <a:t>What we will cover today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691640"/>
            <a:ext cx="1097280" cy="0"/>
          </a:xfrm>
          <a:prstGeom prst="line">
            <a:avLst/>
          </a:prstGeom>
          <a:ln w="50800">
            <a:solidFill>
              <a:srgbClr val="FF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40080" y="2011680"/>
            <a:ext cx="5486400" cy="960120"/>
          </a:xfrm>
          <a:prstGeom prst="roundRect">
            <a:avLst>
              <a:gd name="adj" fmla="val 10000"/>
            </a:avLst>
          </a:prstGeom>
          <a:solidFill>
            <a:srgbClr val="162A42"/>
          </a:solidFill>
          <a:ln w="9525">
            <a:solidFill>
              <a:srgbClr val="374B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822960" y="2194560"/>
            <a:ext cx="685800" cy="594360"/>
          </a:xfrm>
          <a:prstGeom prst="roundRect">
            <a:avLst>
              <a:gd name="adj" fmla="val 25000"/>
            </a:avLst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60" y="2194560"/>
            <a:ext cx="68580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2148840"/>
            <a:ext cx="43891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E5E7EB"/>
                </a:solidFill>
                <a:latin typeface="Calibri"/>
              </a:rPr>
              <a:t>The Urdu ASR Problem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2532887"/>
            <a:ext cx="43891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9CA3AF"/>
                </a:solidFill>
                <a:latin typeface="Calibri"/>
              </a:rPr>
              <a:t>Why does Urdu still hurt at 18-20% WER?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2011680"/>
            <a:ext cx="5486400" cy="960120"/>
          </a:xfrm>
          <a:prstGeom prst="roundRect">
            <a:avLst>
              <a:gd name="adj" fmla="val 10000"/>
            </a:avLst>
          </a:prstGeom>
          <a:solidFill>
            <a:srgbClr val="162A42"/>
          </a:solidFill>
          <a:ln w="9525">
            <a:solidFill>
              <a:srgbClr val="374B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6537960" y="2194560"/>
            <a:ext cx="685800" cy="594360"/>
          </a:xfrm>
          <a:prstGeom prst="roundRect">
            <a:avLst>
              <a:gd name="adj" fmla="val 25000"/>
            </a:avLst>
          </a:prstGeom>
          <a:solidFill>
            <a:srgbClr val="4EC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37960" y="2194560"/>
            <a:ext cx="68580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60920" y="2148840"/>
            <a:ext cx="43891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E5E7EB"/>
                </a:solidFill>
                <a:latin typeface="Calibri"/>
              </a:rPr>
              <a:t>Research Hypothesis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60920" y="2532887"/>
            <a:ext cx="43891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9CA3AF"/>
                </a:solidFill>
                <a:latin typeface="Calibri"/>
              </a:rPr>
              <a:t>Five algorithmic levers, zero retraining.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108960"/>
            <a:ext cx="5486400" cy="960120"/>
          </a:xfrm>
          <a:prstGeom prst="roundRect">
            <a:avLst>
              <a:gd name="adj" fmla="val 10000"/>
            </a:avLst>
          </a:prstGeom>
          <a:solidFill>
            <a:srgbClr val="162A42"/>
          </a:solidFill>
          <a:ln w="9525">
            <a:solidFill>
              <a:srgbClr val="374B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822960" y="3291840"/>
            <a:ext cx="685800" cy="594360"/>
          </a:xfrm>
          <a:prstGeom prst="roundRect">
            <a:avLst>
              <a:gd name="adj" fmla="val 25000"/>
            </a:avLst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2960" y="3291840"/>
            <a:ext cx="68580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3246120"/>
            <a:ext cx="43891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E5E7EB"/>
                </a:solidFill>
                <a:latin typeface="Calibri"/>
              </a:rPr>
              <a:t>From FYP-1 to FYP-2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45920" y="3630167"/>
            <a:ext cx="43891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9CA3AF"/>
                </a:solidFill>
                <a:latin typeface="Calibri"/>
              </a:rPr>
              <a:t>What survived. What we dropped. And why.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55080" y="3108960"/>
            <a:ext cx="5486400" cy="960120"/>
          </a:xfrm>
          <a:prstGeom prst="roundRect">
            <a:avLst>
              <a:gd name="adj" fmla="val 10000"/>
            </a:avLst>
          </a:prstGeom>
          <a:solidFill>
            <a:srgbClr val="162A42"/>
          </a:solidFill>
          <a:ln w="9525">
            <a:solidFill>
              <a:srgbClr val="374B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6537960" y="3291840"/>
            <a:ext cx="685800" cy="594360"/>
          </a:xfrm>
          <a:prstGeom prst="roundRect">
            <a:avLst>
              <a:gd name="adj" fmla="val 25000"/>
            </a:avLst>
          </a:prstGeom>
          <a:solidFill>
            <a:srgbClr val="4EC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537960" y="3291840"/>
            <a:ext cx="68580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60920" y="3246120"/>
            <a:ext cx="43891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E5E7EB"/>
                </a:solidFill>
                <a:latin typeface="Calibri"/>
              </a:rPr>
              <a:t>The CORAL Pipeline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60920" y="3630167"/>
            <a:ext cx="43891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9CA3AF"/>
                </a:solidFill>
                <a:latin typeface="Calibri"/>
              </a:rPr>
              <a:t>Stages 0-4 end-to-end.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" y="4206240"/>
            <a:ext cx="5486400" cy="960120"/>
          </a:xfrm>
          <a:prstGeom prst="roundRect">
            <a:avLst>
              <a:gd name="adj" fmla="val 10000"/>
            </a:avLst>
          </a:prstGeom>
          <a:solidFill>
            <a:srgbClr val="162A42"/>
          </a:solidFill>
          <a:ln w="9525">
            <a:solidFill>
              <a:srgbClr val="374B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822960" y="4389120"/>
            <a:ext cx="685800" cy="594360"/>
          </a:xfrm>
          <a:prstGeom prst="roundRect">
            <a:avLst>
              <a:gd name="adj" fmla="val 25000"/>
            </a:avLst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22960" y="4389120"/>
            <a:ext cx="68580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45920" y="4343400"/>
            <a:ext cx="43891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E5E7EB"/>
                </a:solidFill>
                <a:latin typeface="Calibri"/>
              </a:rPr>
              <a:t>System Architecture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45920" y="4727447"/>
            <a:ext cx="43891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9CA3AF"/>
                </a:solidFill>
                <a:latin typeface="Calibri"/>
              </a:rPr>
              <a:t>Kaggle GPUs → FastAPI → Next.js.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355080" y="4206240"/>
            <a:ext cx="5486400" cy="960120"/>
          </a:xfrm>
          <a:prstGeom prst="roundRect">
            <a:avLst>
              <a:gd name="adj" fmla="val 10000"/>
            </a:avLst>
          </a:prstGeom>
          <a:solidFill>
            <a:srgbClr val="162A42"/>
          </a:solidFill>
          <a:ln w="9525">
            <a:solidFill>
              <a:srgbClr val="374B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6537960" y="4389120"/>
            <a:ext cx="685800" cy="594360"/>
          </a:xfrm>
          <a:prstGeom prst="roundRect">
            <a:avLst>
              <a:gd name="adj" fmla="val 25000"/>
            </a:avLst>
          </a:prstGeom>
          <a:solidFill>
            <a:srgbClr val="4EC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537960" y="4389120"/>
            <a:ext cx="68580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Calibri"/>
              </a:rPr>
              <a:t>06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60920" y="4343400"/>
            <a:ext cx="43891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E5E7EB"/>
                </a:solidFill>
                <a:latin typeface="Calibri"/>
              </a:rPr>
              <a:t>Empirical Results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60920" y="4727447"/>
            <a:ext cx="43891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9CA3AF"/>
                </a:solidFill>
                <a:latin typeface="Calibri"/>
              </a:rPr>
              <a:t>Common Voice + Conversational Urdu.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40080" y="5303520"/>
            <a:ext cx="5486400" cy="960120"/>
          </a:xfrm>
          <a:prstGeom prst="roundRect">
            <a:avLst>
              <a:gd name="adj" fmla="val 10000"/>
            </a:avLst>
          </a:prstGeom>
          <a:solidFill>
            <a:srgbClr val="162A42"/>
          </a:solidFill>
          <a:ln w="9525">
            <a:solidFill>
              <a:srgbClr val="374B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822960" y="5486400"/>
            <a:ext cx="685800" cy="594360"/>
          </a:xfrm>
          <a:prstGeom prst="roundRect">
            <a:avLst>
              <a:gd name="adj" fmla="val 25000"/>
            </a:avLst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22960" y="5486400"/>
            <a:ext cx="68580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Calibri"/>
              </a:rPr>
              <a:t>07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645920" y="5440680"/>
            <a:ext cx="43891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E5E7EB"/>
                </a:solidFill>
                <a:latin typeface="Calibri"/>
              </a:rPr>
              <a:t>Ablation &amp; Residuals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645920" y="5824727"/>
            <a:ext cx="43891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9CA3AF"/>
                </a:solidFill>
                <a:latin typeface="Calibri"/>
              </a:rPr>
              <a:t>Which component buys which percentage?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355080" y="5303520"/>
            <a:ext cx="5486400" cy="960120"/>
          </a:xfrm>
          <a:prstGeom prst="roundRect">
            <a:avLst>
              <a:gd name="adj" fmla="val 10000"/>
            </a:avLst>
          </a:prstGeom>
          <a:solidFill>
            <a:srgbClr val="162A42"/>
          </a:solidFill>
          <a:ln w="9525">
            <a:solidFill>
              <a:srgbClr val="374B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ounded Rectangle 43"/>
          <p:cNvSpPr/>
          <p:nvPr/>
        </p:nvSpPr>
        <p:spPr>
          <a:xfrm>
            <a:off x="6537960" y="5486400"/>
            <a:ext cx="685800" cy="594360"/>
          </a:xfrm>
          <a:prstGeom prst="roundRect">
            <a:avLst>
              <a:gd name="adj" fmla="val 25000"/>
            </a:avLst>
          </a:prstGeom>
          <a:solidFill>
            <a:srgbClr val="4EC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537960" y="5486400"/>
            <a:ext cx="68580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Calibri"/>
              </a:rPr>
              <a:t>08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60920" y="5440680"/>
            <a:ext cx="43891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E5E7EB"/>
                </a:solidFill>
                <a:latin typeface="Calibri"/>
              </a:rPr>
              <a:t>Conclusion &amp; Future Work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60920" y="5824727"/>
            <a:ext cx="43891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9CA3AF"/>
                </a:solidFill>
                <a:latin typeface="Calibri"/>
              </a:rPr>
              <a:t>Where CORAL goes next.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9CA3AF"/>
                </a:solidFill>
                <a:latin typeface="Calibri"/>
              </a:rPr>
              <a:t>CORAL  |  Consensus-Based Refinement and Output Realignment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9CA3AF"/>
                </a:solidFill>
                <a:latin typeface="Calibri"/>
              </a:rPr>
              <a:t>3 / 32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10607040" y="5486400"/>
            <a:ext cx="2377440" cy="2377440"/>
          </a:xfrm>
          <a:prstGeom prst="ellipse">
            <a:avLst/>
          </a:prstGeom>
          <a:solidFill>
            <a:srgbClr val="FF6B6B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-914400" y="-914400"/>
            <a:ext cx="2194560" cy="2194560"/>
          </a:xfrm>
          <a:prstGeom prst="ellipse">
            <a:avLst/>
          </a:prstGeom>
          <a:solidFill>
            <a:srgbClr val="4ECDC4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6B6B"/>
                </a:solidFill>
                <a:latin typeface="Calibri"/>
              </a:rPr>
              <a:t>THE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1097280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E5E7EB"/>
                </a:solidFill>
                <a:latin typeface="Calibri"/>
              </a:rPr>
              <a:t>Urdu remains a severely under-resourced ASR language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691640"/>
            <a:ext cx="1097280" cy="0"/>
          </a:xfrm>
          <a:prstGeom prst="line">
            <a:avLst/>
          </a:prstGeom>
          <a:ln w="50800">
            <a:solidFill>
              <a:srgbClr val="FF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40080" y="2194560"/>
            <a:ext cx="2468880" cy="1828800"/>
          </a:xfrm>
          <a:prstGeom prst="roundRect">
            <a:avLst>
              <a:gd name="adj" fmla="val 8000"/>
            </a:avLst>
          </a:prstGeom>
          <a:solidFill>
            <a:srgbClr val="162A42"/>
          </a:solidFill>
          <a:ln w="9525">
            <a:solidFill>
              <a:srgbClr val="374B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2423160"/>
            <a:ext cx="24688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600" b="1" i="0">
                <a:solidFill>
                  <a:srgbClr val="FF6B6B"/>
                </a:solidFill>
                <a:latin typeface="Calibri"/>
              </a:rPr>
              <a:t>230 M+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246120"/>
            <a:ext cx="24688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E5E7EB"/>
                </a:solidFill>
                <a:latin typeface="Calibri"/>
              </a:rPr>
              <a:t>speakers worldwide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91840" y="2194560"/>
            <a:ext cx="2468880" cy="1828800"/>
          </a:xfrm>
          <a:prstGeom prst="roundRect">
            <a:avLst>
              <a:gd name="adj" fmla="val 8000"/>
            </a:avLst>
          </a:prstGeom>
          <a:solidFill>
            <a:srgbClr val="162A42"/>
          </a:solidFill>
          <a:ln w="9525">
            <a:solidFill>
              <a:srgbClr val="374B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291840" y="2423160"/>
            <a:ext cx="24688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600" b="1" i="0">
                <a:solidFill>
                  <a:srgbClr val="FFD93D"/>
                </a:solidFill>
                <a:latin typeface="Calibri"/>
              </a:rPr>
              <a:t>13-20%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3246120"/>
            <a:ext cx="24688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E5E7EB"/>
                </a:solidFill>
                <a:latin typeface="Calibri"/>
              </a:rPr>
              <a:t>WER for SOTA models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206240"/>
            <a:ext cx="2468880" cy="1828800"/>
          </a:xfrm>
          <a:prstGeom prst="roundRect">
            <a:avLst>
              <a:gd name="adj" fmla="val 8000"/>
            </a:avLst>
          </a:prstGeom>
          <a:solidFill>
            <a:srgbClr val="162A42"/>
          </a:solidFill>
          <a:ln w="9525">
            <a:solidFill>
              <a:srgbClr val="374B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0080" y="4434840"/>
            <a:ext cx="24688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600" b="1" i="0">
                <a:solidFill>
                  <a:srgbClr val="4ECDC4"/>
                </a:solidFill>
                <a:latin typeface="Calibri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257800"/>
            <a:ext cx="24688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E5E7EB"/>
                </a:solidFill>
                <a:latin typeface="Calibri"/>
              </a:rPr>
              <a:t>production-grade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E5E7EB"/>
                </a:solidFill>
                <a:latin typeface="Calibri"/>
              </a:rPr>
              <a:t>Urdu post-processors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91840" y="4206240"/>
            <a:ext cx="2468880" cy="1828800"/>
          </a:xfrm>
          <a:prstGeom prst="roundRect">
            <a:avLst>
              <a:gd name="adj" fmla="val 8000"/>
            </a:avLst>
          </a:prstGeom>
          <a:solidFill>
            <a:srgbClr val="162A42"/>
          </a:solidFill>
          <a:ln w="9525">
            <a:solidFill>
              <a:srgbClr val="374B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291840" y="4434840"/>
            <a:ext cx="24688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600" b="1" i="0">
                <a:solidFill>
                  <a:srgbClr val="8B5CF6"/>
                </a:solidFill>
                <a:latin typeface="Calibri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840" y="5257800"/>
            <a:ext cx="24688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E5E7EB"/>
                </a:solidFill>
                <a:latin typeface="Calibri"/>
              </a:rPr>
              <a:t>FYP team that took it 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0" y="2194560"/>
            <a:ext cx="5486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E5E7EB"/>
                </a:solidFill>
                <a:latin typeface="Calibri"/>
              </a:rPr>
              <a:t>Foundation ASR models hit sub-5% WER on English.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0" y="2606040"/>
            <a:ext cx="548640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E5E7EB"/>
                </a:solidFill>
                <a:latin typeface="Calibri"/>
              </a:rPr>
              <a:t>Yet on Urdu — the national language of Pakistan, written in Nastaliq script — Whisper, MMS and SeamlessM4T still hover between 13% (read speech) and 20% (conversational). Critical domains — healthcare, legal, accessibility, education — remain blocked.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26480" y="461772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4ECDC4"/>
                </a:solidFill>
                <a:latin typeface="Calibri"/>
              </a:rPr>
              <a:t>Why is Urdu hard?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26480" y="4937760"/>
            <a:ext cx="54864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E5E7EB"/>
                </a:solidFill>
                <a:latin typeface="Calibri"/>
              </a:rPr>
              <a:t>• Limited training data — Urdu is a minority of multilingual mixtures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E5E7EB"/>
                </a:solidFill>
                <a:latin typeface="Calibri"/>
              </a:rPr>
              <a:t>• Arabic ↔ Urdu Unicode conflation (U+0643 vs U+06A9, etc.)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E5E7EB"/>
                </a:solidFill>
                <a:latin typeface="Calibri"/>
              </a:rPr>
              <a:t>• Word-boundary disagreement across architectures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E5E7EB"/>
                </a:solidFill>
                <a:latin typeface="Calibri"/>
              </a:rPr>
              <a:t>• Rampant Urdu ↔ English code-switching in conversation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9CA3AF"/>
                </a:solidFill>
                <a:latin typeface="Calibri"/>
              </a:rPr>
              <a:t>CORAL  |  Consensus-Based Refinement and Output Realignment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9CA3AF"/>
                </a:solidFill>
                <a:latin typeface="Calibri"/>
              </a:rPr>
              <a:t>4 / 32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2194560"/>
            <a:ext cx="12191695" cy="2743200"/>
          </a:xfrm>
          <a:prstGeom prst="rect">
            <a:avLst/>
          </a:prstGeom>
          <a:solidFill>
            <a:srgbClr val="16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0607040" y="5486400"/>
            <a:ext cx="2377440" cy="2377440"/>
          </a:xfrm>
          <a:prstGeom prst="ellipse">
            <a:avLst/>
          </a:prstGeom>
          <a:solidFill>
            <a:srgbClr val="FF6B6B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-914400" y="-914400"/>
            <a:ext cx="2194560" cy="2194560"/>
          </a:xfrm>
          <a:prstGeom prst="ellipse">
            <a:avLst/>
          </a:prstGeom>
          <a:solidFill>
            <a:srgbClr val="4ECDC4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41148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6B6B"/>
                </a:solidFill>
                <a:latin typeface="Calibri"/>
              </a:rPr>
              <a:t>RESEARCH HYPOTHESIS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777240"/>
            <a:ext cx="1097280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E5E7EB"/>
                </a:solidFill>
                <a:latin typeface="Calibri"/>
              </a:rPr>
              <a:t>Five algorithmic levers — no fine-tuning needed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1691640"/>
            <a:ext cx="1097280" cy="0"/>
          </a:xfrm>
          <a:prstGeom prst="line">
            <a:avLst/>
          </a:prstGeom>
          <a:ln w="50800">
            <a:solidFill>
              <a:srgbClr val="FF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48640" y="2103120"/>
            <a:ext cx="9144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600" b="1" i="0">
                <a:solidFill>
                  <a:srgbClr val="FF6B6B"/>
                </a:solidFill>
                <a:latin typeface="Calibri"/>
              </a:rPr>
              <a:t>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2377440"/>
            <a:ext cx="10058400" cy="2468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1">
                <a:solidFill>
                  <a:srgbClr val="E5E7EB"/>
                </a:solidFill>
                <a:latin typeface="Calibri"/>
              </a:rPr>
              <a:t>Combining (i) Urdu-specific Unicode normalisation, (ii) weighted split-merge-aware alignment, (iii) hybrid OOV detection with BK-tree fuzzy lookup ranked by an n-gram LM, (iv) conservative position-wise voting, and (v) targeted LLM refinement of the voted output —</a:t>
            </a:r>
          </a:p>
          <a:p>
            <a:pPr algn="l">
              <a:lnSpc>
                <a:spcPct val="140000"/>
              </a:lnSpc>
            </a:pPr>
            <a:endParaRPr sz="1700" b="0" i="1">
              <a:solidFill>
                <a:srgbClr val="E5E7EB"/>
              </a:solidFill>
              <a:latin typeface="Calibri"/>
            </a:endParaRPr>
          </a:p>
          <a:p>
            <a:pPr algn="l">
              <a:lnSpc>
                <a:spcPct val="140000"/>
              </a:lnSpc>
            </a:pPr>
            <a:r>
              <a:rPr sz="1700" b="0" i="1">
                <a:solidFill>
                  <a:srgbClr val="E5E7EB"/>
                </a:solidFill>
                <a:latin typeface="Calibri"/>
              </a:rPr>
              <a:t>is sufficient to substantially reduce WER over the strongest single-model baseline, on both read-speech and conversational Urdu, without any fine-tuning of the acoustic models.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5212080"/>
            <a:ext cx="2057400" cy="868680"/>
          </a:xfrm>
          <a:prstGeom prst="roundRect">
            <a:avLst>
              <a:gd name="adj" fmla="val 12000"/>
            </a:avLst>
          </a:prstGeom>
          <a:solidFill>
            <a:srgbClr val="162A42"/>
          </a:solidFill>
          <a:ln w="25400">
            <a:solidFill>
              <a:srgbClr val="FF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51560" y="5285232"/>
            <a:ext cx="64008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6B6B"/>
                </a:solidFill>
                <a:latin typeface="Calibri"/>
              </a:rPr>
              <a:t>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37360" y="5394960"/>
            <a:ext cx="11430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E5E7EB"/>
                </a:solidFill>
                <a:latin typeface="Calibri"/>
              </a:rPr>
              <a:t>Normalize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108960" y="5212080"/>
            <a:ext cx="2057400" cy="868680"/>
          </a:xfrm>
          <a:prstGeom prst="roundRect">
            <a:avLst>
              <a:gd name="adj" fmla="val 12000"/>
            </a:avLst>
          </a:prstGeom>
          <a:solidFill>
            <a:srgbClr val="162A42"/>
          </a:solidFill>
          <a:ln w="25400">
            <a:solidFill>
              <a:srgbClr val="4ECD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246120" y="5285232"/>
            <a:ext cx="64008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4ECDC4"/>
                </a:solidFill>
                <a:latin typeface="Calibri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5394960"/>
            <a:ext cx="11430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E5E7EB"/>
                </a:solidFill>
                <a:latin typeface="Calibri"/>
              </a:rPr>
              <a:t>Align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303520" y="5212080"/>
            <a:ext cx="2057400" cy="868680"/>
          </a:xfrm>
          <a:prstGeom prst="roundRect">
            <a:avLst>
              <a:gd name="adj" fmla="val 12000"/>
            </a:avLst>
          </a:prstGeom>
          <a:solidFill>
            <a:srgbClr val="162A42"/>
          </a:solidFill>
          <a:ln w="25400">
            <a:solidFill>
              <a:srgbClr val="FFD9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440680" y="5285232"/>
            <a:ext cx="64008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D93D"/>
                </a:solidFill>
                <a:latin typeface="Calibr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0" y="5394960"/>
            <a:ext cx="11430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E5E7EB"/>
                </a:solidFill>
                <a:latin typeface="Calibri"/>
              </a:rPr>
              <a:t>OOV+BK-tree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0" y="5212080"/>
            <a:ext cx="2057400" cy="868680"/>
          </a:xfrm>
          <a:prstGeom prst="roundRect">
            <a:avLst>
              <a:gd name="adj" fmla="val 12000"/>
            </a:avLst>
          </a:prstGeom>
          <a:solidFill>
            <a:srgbClr val="162A42"/>
          </a:solidFill>
          <a:ln w="2540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635240" y="5285232"/>
            <a:ext cx="64008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10B981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5394960"/>
            <a:ext cx="11430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E5E7EB"/>
                </a:solidFill>
                <a:latin typeface="Calibri"/>
              </a:rPr>
              <a:t>Vote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692640" y="5212080"/>
            <a:ext cx="2057400" cy="868680"/>
          </a:xfrm>
          <a:prstGeom prst="roundRect">
            <a:avLst>
              <a:gd name="adj" fmla="val 12000"/>
            </a:avLst>
          </a:prstGeom>
          <a:solidFill>
            <a:srgbClr val="162A42"/>
          </a:solidFill>
          <a:ln w="254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829800" y="5285232"/>
            <a:ext cx="64008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8B5CF6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0" y="5394960"/>
            <a:ext cx="11430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E5E7EB"/>
                </a:solidFill>
                <a:latin typeface="Calibri"/>
              </a:rPr>
              <a:t>LLM Refine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9CA3AF"/>
                </a:solidFill>
                <a:latin typeface="Calibri"/>
              </a:rPr>
              <a:t>CORAL  |  Consensus-Based Refinement and Output Realignment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9CA3AF"/>
                </a:solidFill>
                <a:latin typeface="Calibri"/>
              </a:rPr>
              <a:t>5 / 32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10607040" y="5486400"/>
            <a:ext cx="2377440" cy="2377440"/>
          </a:xfrm>
          <a:prstGeom prst="ellipse">
            <a:avLst/>
          </a:prstGeom>
          <a:solidFill>
            <a:srgbClr val="FF6B6B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-914400" y="-914400"/>
            <a:ext cx="2194560" cy="2194560"/>
          </a:xfrm>
          <a:prstGeom prst="ellipse">
            <a:avLst/>
          </a:prstGeom>
          <a:solidFill>
            <a:srgbClr val="4ECDC4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6B6B"/>
                </a:solidFill>
                <a:latin typeface="Calibri"/>
              </a:rPr>
              <a:t>EVOLUTION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1097280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E5E7EB"/>
                </a:solidFill>
                <a:latin typeface="Calibri"/>
              </a:rPr>
              <a:t>From FYP-1 Generate-and-Refine  →  FYP-2 five-stage pipeline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917272"/>
            <a:ext cx="1097280" cy="0"/>
          </a:xfrm>
          <a:prstGeom prst="line">
            <a:avLst/>
          </a:prstGeom>
          <a:ln w="50800">
            <a:solidFill>
              <a:srgbClr val="FF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40080" y="2011680"/>
            <a:ext cx="5394960" cy="4114800"/>
          </a:xfrm>
          <a:prstGeom prst="roundRect">
            <a:avLst>
              <a:gd name="adj" fmla="val 5000"/>
            </a:avLst>
          </a:prstGeom>
          <a:solidFill>
            <a:srgbClr val="162A42"/>
          </a:solidFill>
          <a:ln w="9525">
            <a:solidFill>
              <a:srgbClr val="FFD9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400800" y="2011680"/>
            <a:ext cx="5394960" cy="4114800"/>
          </a:xfrm>
          <a:prstGeom prst="roundRect">
            <a:avLst>
              <a:gd name="adj" fmla="val 5000"/>
            </a:avLst>
          </a:prstGeom>
          <a:solidFill>
            <a:srgbClr val="162A42"/>
          </a:solidFill>
          <a:ln w="9525">
            <a:solidFill>
              <a:srgbClr val="FF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914400" y="2240280"/>
            <a:ext cx="3474720" cy="365760"/>
          </a:xfrm>
          <a:prstGeom prst="roundRect">
            <a:avLst>
              <a:gd name="adj" fmla="val 50000"/>
            </a:avLst>
          </a:prstGeom>
          <a:solidFill>
            <a:srgbClr val="FFD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6200" tIns="25400" rIns="76200" bIns="25400" rtlCol="0" anchor="ctr"/>
          <a:lstStyle/>
          <a:p>
            <a:pPr algn="ctr"/>
            <a:r>
              <a:rPr sz="1100" b="1">
                <a:solidFill>
                  <a:srgbClr val="1F2937"/>
                </a:solidFill>
                <a:latin typeface="Calibri"/>
              </a:rPr>
              <a:t>FYP-1  •  GENERATE-AND-REFINE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43200"/>
            <a:ext cx="5394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E5E7EB"/>
                </a:solidFill>
                <a:latin typeface="Calibri"/>
              </a:rPr>
              <a:t>2-stage architecture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329184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0B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6200" tIns="25400" rIns="76200" bIns="25400" rtlCol="0" anchor="ctr"/>
          <a:lstStyle/>
          <a:p>
            <a:pPr algn="ctr"/>
            <a:r>
              <a:rPr sz="950" b="1">
                <a:solidFill>
                  <a:srgbClr val="FFD93D"/>
                </a:solidFill>
                <a:latin typeface="Calibri"/>
              </a:rPr>
              <a:t>Stage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20" y="3273552"/>
            <a:ext cx="40233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E5E7EB"/>
                </a:solidFill>
                <a:latin typeface="Calibri"/>
              </a:rPr>
              <a:t>Confidence-annotated multi-model ASR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379476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0B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6200" tIns="25400" rIns="76200" bIns="25400" rtlCol="0" anchor="ctr"/>
          <a:lstStyle/>
          <a:p>
            <a:pPr algn="ctr"/>
            <a:r>
              <a:rPr sz="950" b="1">
                <a:solidFill>
                  <a:srgbClr val="FFD93D"/>
                </a:solidFill>
                <a:latin typeface="Calibri"/>
              </a:rPr>
              <a:t>Stage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20" y="3776472"/>
            <a:ext cx="40233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E5E7EB"/>
                </a:solidFill>
                <a:latin typeface="Calibri"/>
              </a:rPr>
              <a:t>Alif-1.0-8B LLM arbitrates between hypotheses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429768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0B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6200" tIns="25400" rIns="76200" bIns="25400" rtlCol="0" anchor="ctr"/>
          <a:lstStyle/>
          <a:p>
            <a:pPr algn="ctr"/>
            <a:r>
              <a:rPr sz="950" b="1">
                <a:solidFill>
                  <a:srgbClr val="FFD93D"/>
                </a:solidFill>
                <a:latin typeface="Calibri"/>
              </a:rPr>
              <a:t>Eval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20" y="4279392"/>
            <a:ext cx="40233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E5E7EB"/>
                </a:solidFill>
                <a:latin typeface="Calibri"/>
              </a:rPr>
              <a:t>20-sample synthetic dataset, 3 calibration regimes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480060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0B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6200" tIns="25400" rIns="76200" bIns="25400" rtlCol="0" anchor="ctr"/>
          <a:lstStyle/>
          <a:p>
            <a:pPr algn="ctr"/>
            <a:r>
              <a:rPr sz="950" b="1">
                <a:solidFill>
                  <a:srgbClr val="FFD93D"/>
                </a:solidFill>
                <a:latin typeface="Calibri"/>
              </a:rPr>
              <a:t>Metric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20" y="4782312"/>
            <a:ext cx="40233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E5E7EB"/>
                </a:solidFill>
                <a:latin typeface="Calibri"/>
              </a:rPr>
              <a:t>WER + ECE (Expected Calibration Error)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" y="530352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0B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6200" tIns="25400" rIns="76200" bIns="25400" rtlCol="0" anchor="ctr"/>
          <a:lstStyle/>
          <a:p>
            <a:pPr algn="ctr"/>
            <a:r>
              <a:rPr sz="950" b="1">
                <a:solidFill>
                  <a:srgbClr val="FFD93D"/>
                </a:solidFill>
                <a:latin typeface="Calibri"/>
              </a:rPr>
              <a:t>Result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74520" y="5285232"/>
            <a:ext cx="40233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E5E7EB"/>
                </a:solidFill>
                <a:latin typeface="Calibri"/>
              </a:rPr>
              <a:t>Whisper-Large baseline 17.76% WER · LLM 18.15%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75120" y="2240280"/>
            <a:ext cx="4206240" cy="365760"/>
          </a:xfrm>
          <a:prstGeom prst="roundRect">
            <a:avLst>
              <a:gd name="adj" fmla="val 50000"/>
            </a:avLst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6200" tIns="25400" rIns="76200" bIns="2540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FYP-2  •  FIVE-STAGE POST-PROCESSING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0" y="2743200"/>
            <a:ext cx="5394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E5E7EB"/>
                </a:solidFill>
                <a:latin typeface="Calibri"/>
              </a:rPr>
              <a:t>Compositional algorithmic pipeline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75120" y="329184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0B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6200" tIns="25400" rIns="76200" bIns="25400" rtlCol="0" anchor="ctr"/>
          <a:lstStyle/>
          <a:p>
            <a:pPr algn="ctr"/>
            <a:r>
              <a:rPr sz="950" b="1">
                <a:solidFill>
                  <a:srgbClr val="FF6B6B"/>
                </a:solidFill>
                <a:latin typeface="Calibri"/>
              </a:rPr>
              <a:t>Stage 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3273552"/>
            <a:ext cx="40233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E5E7EB"/>
                </a:solidFill>
                <a:latin typeface="Calibri"/>
              </a:rPr>
              <a:t>Urdu normalisation (Unicode, diacritics, tatweel)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675120" y="379476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0B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6200" tIns="25400" rIns="76200" bIns="25400" rtlCol="0" anchor="ctr"/>
          <a:lstStyle/>
          <a:p>
            <a:pPr algn="ctr"/>
            <a:r>
              <a:rPr sz="950" b="1">
                <a:solidFill>
                  <a:srgbClr val="FF6B6B"/>
                </a:solidFill>
                <a:latin typeface="Calibri"/>
              </a:rPr>
              <a:t>Stage 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35240" y="3776472"/>
            <a:ext cx="40233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E5E7EB"/>
                </a:solidFill>
                <a:latin typeface="Calibri"/>
              </a:rPr>
              <a:t>Weighted split-merge alignment (SAME/SPLIT/MERGE/NOISE)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675120" y="429768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0B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6200" tIns="25400" rIns="76200" bIns="25400" rtlCol="0" anchor="ctr"/>
          <a:lstStyle/>
          <a:p>
            <a:pPr algn="ctr"/>
            <a:r>
              <a:rPr sz="950" b="1">
                <a:solidFill>
                  <a:srgbClr val="FF6B6B"/>
                </a:solidFill>
                <a:latin typeface="Calibri"/>
              </a:rPr>
              <a:t>Stage 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35240" y="4279392"/>
            <a:ext cx="40233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E5E7EB"/>
                </a:solidFill>
                <a:latin typeface="Calibri"/>
              </a:rPr>
              <a:t>BK-tree OOV + n-gram ranking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75120" y="480060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0B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6200" tIns="25400" rIns="76200" bIns="25400" rtlCol="0" anchor="ctr"/>
          <a:lstStyle/>
          <a:p>
            <a:pPr algn="ctr"/>
            <a:r>
              <a:rPr sz="950" b="1">
                <a:solidFill>
                  <a:srgbClr val="FF6B6B"/>
                </a:solidFill>
                <a:latin typeface="Calibri"/>
              </a:rPr>
              <a:t>Stage 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35240" y="4782312"/>
            <a:ext cx="40233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E5E7EB"/>
                </a:solidFill>
                <a:latin typeface="Calibri"/>
              </a:rPr>
              <a:t>Position-wise voting, conservative tie-break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675120" y="530352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0B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6200" tIns="25400" rIns="76200" bIns="25400" rtlCol="0" anchor="ctr"/>
          <a:lstStyle/>
          <a:p>
            <a:pPr algn="ctr"/>
            <a:r>
              <a:rPr sz="950" b="1">
                <a:solidFill>
                  <a:srgbClr val="FF6B6B"/>
                </a:solidFill>
                <a:latin typeface="Calibri"/>
              </a:rPr>
              <a:t>Stage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35240" y="5285232"/>
            <a:ext cx="40233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E5E7EB"/>
                </a:solidFill>
                <a:latin typeface="Calibri"/>
              </a:rPr>
              <a:t>Frontier LLM refinement (Gemini / Claude / GPT)</a:t>
            </a:r>
          </a:p>
        </p:txBody>
      </p:sp>
      <p:sp>
        <p:nvSpPr>
          <p:cNvPr id="34" name="Right Arrow 33"/>
          <p:cNvSpPr/>
          <p:nvPr/>
        </p:nvSpPr>
        <p:spPr>
          <a:xfrm>
            <a:off x="5989320" y="3931920"/>
            <a:ext cx="411480" cy="320040"/>
          </a:xfrm>
          <a:prstGeom prst="rightArrow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9CA3AF"/>
                </a:solidFill>
                <a:latin typeface="Calibri"/>
              </a:rPr>
              <a:t>CORAL  |  Consensus-Based Refinement and Output Realignment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9CA3AF"/>
                </a:solidFill>
                <a:latin typeface="Calibri"/>
              </a:rPr>
              <a:t>6 / 32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10607040" y="5486400"/>
            <a:ext cx="2377440" cy="2377440"/>
          </a:xfrm>
          <a:prstGeom prst="ellipse">
            <a:avLst/>
          </a:prstGeom>
          <a:solidFill>
            <a:srgbClr val="FF6B6B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-914400" y="-914400"/>
            <a:ext cx="2194560" cy="2194560"/>
          </a:xfrm>
          <a:prstGeom prst="ellipse">
            <a:avLst/>
          </a:prstGeom>
          <a:solidFill>
            <a:srgbClr val="4ECDC4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6B6B"/>
                </a:solidFill>
                <a:latin typeface="Calibri"/>
              </a:rPr>
              <a:t>WHAT WE DROPPED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1097280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E5E7EB"/>
                </a:solidFill>
                <a:latin typeface="Calibri"/>
              </a:rPr>
              <a:t>Five FYP-1 elements removed or repositioned for FYP-2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691640"/>
            <a:ext cx="1097280" cy="0"/>
          </a:xfrm>
          <a:prstGeom prst="line">
            <a:avLst/>
          </a:prstGeom>
          <a:ln w="50800">
            <a:solidFill>
              <a:srgbClr val="FF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40080" y="1965960"/>
            <a:ext cx="10972800" cy="777240"/>
          </a:xfrm>
          <a:prstGeom prst="roundRect">
            <a:avLst>
              <a:gd name="adj" fmla="val 10000"/>
            </a:avLst>
          </a:prstGeom>
          <a:solidFill>
            <a:srgbClr val="162A42"/>
          </a:solidFill>
          <a:ln w="9525">
            <a:solidFill>
              <a:srgbClr val="374B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40080" y="1965960"/>
            <a:ext cx="164592" cy="777240"/>
          </a:xfrm>
          <a:prstGeom prst="roundRect">
            <a:avLst>
              <a:gd name="adj" fmla="val 40000"/>
            </a:avLst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05840" y="2011680"/>
            <a:ext cx="4206240" cy="4114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350" b="1" strike="sngStrike">
                <a:solidFill>
                  <a:srgbClr val="E5E7EB"/>
                </a:solidFill>
                <a:latin typeface="Calibri"/>
              </a:rPr>
              <a:t>Word-level confidence extraction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377440"/>
            <a:ext cx="5669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9CA3AF"/>
                </a:solidFill>
                <a:latin typeface="Calibri"/>
              </a:rPr>
              <a:t>× was:  Whisper/Wav2Vec2 raw confidences live on incompatible scales — proved unreliable in practice.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2029968"/>
            <a:ext cx="47548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FF6B6B"/>
                </a:solidFill>
                <a:latin typeface="Calibri"/>
              </a:rPr>
              <a:t>→ now:  Replaced with static, model-quality based weighting only at the LLM stage.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834640"/>
            <a:ext cx="10972800" cy="777240"/>
          </a:xfrm>
          <a:prstGeom prst="roundRect">
            <a:avLst>
              <a:gd name="adj" fmla="val 10000"/>
            </a:avLst>
          </a:prstGeom>
          <a:solidFill>
            <a:srgbClr val="162A42"/>
          </a:solidFill>
          <a:ln w="9525">
            <a:solidFill>
              <a:srgbClr val="374B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640080" y="2834640"/>
            <a:ext cx="164592" cy="777240"/>
          </a:xfrm>
          <a:prstGeom prst="roundRect">
            <a:avLst>
              <a:gd name="adj" fmla="val 40000"/>
            </a:avLst>
          </a:prstGeom>
          <a:solidFill>
            <a:srgbClr val="FFD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05840" y="2880360"/>
            <a:ext cx="4206240" cy="4114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350" b="1" strike="sngStrike">
                <a:solidFill>
                  <a:srgbClr val="E5E7EB"/>
                </a:solidFill>
                <a:latin typeface="Calibri"/>
              </a:rPr>
              <a:t>Expected Calibration Error (ECE)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3246120"/>
            <a:ext cx="5669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9CA3AF"/>
                </a:solidFill>
                <a:latin typeface="Calibri"/>
              </a:rPr>
              <a:t>× was:  Useful for FYP-1 confidence-quality comparison, but tangential to deployed pipeline.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2898648"/>
            <a:ext cx="47548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FFD93D"/>
                </a:solidFill>
                <a:latin typeface="Calibri"/>
              </a:rPr>
              <a:t>→ now:  FYP-2 reports WER + CER only. ECE retained as historical context.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703320"/>
            <a:ext cx="10972800" cy="777240"/>
          </a:xfrm>
          <a:prstGeom prst="roundRect">
            <a:avLst>
              <a:gd name="adj" fmla="val 10000"/>
            </a:avLst>
          </a:prstGeom>
          <a:solidFill>
            <a:srgbClr val="162A42"/>
          </a:solidFill>
          <a:ln w="9525">
            <a:solidFill>
              <a:srgbClr val="374B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640080" y="3703320"/>
            <a:ext cx="164592" cy="777240"/>
          </a:xfrm>
          <a:prstGeom prst="roundRect">
            <a:avLst>
              <a:gd name="adj" fmla="val 40000"/>
            </a:avLst>
          </a:prstGeom>
          <a:solidFill>
            <a:srgbClr val="4EC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05840" y="3749040"/>
            <a:ext cx="4206240" cy="4114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350" b="1" strike="sngStrike">
                <a:solidFill>
                  <a:srgbClr val="E5E7EB"/>
                </a:solidFill>
                <a:latin typeface="Calibri"/>
              </a:rPr>
              <a:t>Synthetic 20-sample evaluation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4114800"/>
            <a:ext cx="5669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9CA3AF"/>
                </a:solidFill>
                <a:latin typeface="Calibri"/>
              </a:rPr>
              <a:t>× was:  Three calibration regimes × three error types ignored Urdu-specific failures.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3767328"/>
            <a:ext cx="47548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4ECDC4"/>
                </a:solidFill>
                <a:latin typeface="Calibri"/>
              </a:rPr>
              <a:t>→ now:  Replaced with 2 995 Common Voice + 500 Conversational Urdu clips.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4572000"/>
            <a:ext cx="10972800" cy="777240"/>
          </a:xfrm>
          <a:prstGeom prst="roundRect">
            <a:avLst>
              <a:gd name="adj" fmla="val 10000"/>
            </a:avLst>
          </a:prstGeom>
          <a:solidFill>
            <a:srgbClr val="162A42"/>
          </a:solidFill>
          <a:ln w="9525">
            <a:solidFill>
              <a:srgbClr val="374B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640080" y="4572000"/>
            <a:ext cx="164592" cy="777240"/>
          </a:xfrm>
          <a:prstGeom prst="roundRect">
            <a:avLst>
              <a:gd name="adj" fmla="val 40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005840" y="4617720"/>
            <a:ext cx="4206240" cy="4114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350" b="1" strike="sngStrike">
                <a:solidFill>
                  <a:srgbClr val="E5E7EB"/>
                </a:solidFill>
                <a:latin typeface="Calibri"/>
              </a:rPr>
              <a:t>Alif-1.0-8B-Instruct LLM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4983480"/>
            <a:ext cx="5669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9CA3AF"/>
                </a:solidFill>
                <a:latin typeface="Calibri"/>
              </a:rPr>
              <a:t>× was:  Heavy GPU + weaker instruction following than commercial frontier models.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75120" y="4636008"/>
            <a:ext cx="47548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dirty="0">
                <a:solidFill>
                  <a:srgbClr val="8B5CF6"/>
                </a:solidFill>
                <a:latin typeface="Calibri"/>
              </a:rPr>
              <a:t>→ now:  Replaced with client-side Gemini / </a:t>
            </a:r>
            <a:r>
              <a:rPr sz="1100" b="1" i="0" dirty="0" err="1">
                <a:solidFill>
                  <a:srgbClr val="8B5CF6"/>
                </a:solidFill>
                <a:latin typeface="Calibri"/>
              </a:rPr>
              <a:t>OpenRouter</a:t>
            </a:r>
            <a:r>
              <a:rPr sz="1100" b="1" i="0" dirty="0">
                <a:solidFill>
                  <a:srgbClr val="8B5CF6"/>
                </a:solidFill>
                <a:latin typeface="Calibri"/>
              </a:rPr>
              <a:t> (Claude, GPT-4o).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" y="5440680"/>
            <a:ext cx="10972800" cy="777240"/>
          </a:xfrm>
          <a:prstGeom prst="roundRect">
            <a:avLst>
              <a:gd name="adj" fmla="val 10000"/>
            </a:avLst>
          </a:prstGeom>
          <a:solidFill>
            <a:srgbClr val="162A42"/>
          </a:solidFill>
          <a:ln w="9525">
            <a:solidFill>
              <a:srgbClr val="374B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640080" y="5440680"/>
            <a:ext cx="164592" cy="777240"/>
          </a:xfrm>
          <a:prstGeom prst="roundRect">
            <a:avLst>
              <a:gd name="adj" fmla="val 40000"/>
            </a:avLst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1005840" y="5486400"/>
            <a:ext cx="4206240" cy="4114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350" b="1" strike="sngStrike">
                <a:solidFill>
                  <a:srgbClr val="E5E7EB"/>
                </a:solidFill>
                <a:latin typeface="Calibri"/>
              </a:rPr>
              <a:t>Two-stage Generate-and-Refine framing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" y="5852160"/>
            <a:ext cx="5669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9CA3AF"/>
                </a:solidFill>
                <a:latin typeface="Calibri"/>
              </a:rPr>
              <a:t>× was:  Treated LLM as primary fusion mechanism — wrong abstraction for Urdu.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75120" y="5504688"/>
            <a:ext cx="47548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0B981"/>
                </a:solidFill>
                <a:latin typeface="Calibri"/>
              </a:rPr>
              <a:t>→ now:  Reframed as 5 sequential stages with LLM as the LAST refinement step.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9CA3AF"/>
                </a:solidFill>
                <a:latin typeface="Calibri"/>
              </a:rPr>
              <a:t>CORAL  |  Consensus-Based Refinement and Output Realignment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9CA3AF"/>
                </a:solidFill>
                <a:latin typeface="Calibri"/>
              </a:rPr>
              <a:t>7 / 32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5938"/>
            <a:ext cx="12191695" cy="6858000"/>
          </a:xfrm>
          <a:prstGeom prst="rect">
            <a:avLst/>
          </a:prstGeom>
          <a:solidFill>
            <a:srgbClr val="0B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10607040" y="5486400"/>
            <a:ext cx="2377440" cy="2377440"/>
          </a:xfrm>
          <a:prstGeom prst="ellipse">
            <a:avLst/>
          </a:prstGeom>
          <a:solidFill>
            <a:srgbClr val="FF6B6B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-914400" y="-914400"/>
            <a:ext cx="2194560" cy="2194560"/>
          </a:xfrm>
          <a:prstGeom prst="ellipse">
            <a:avLst/>
          </a:prstGeom>
          <a:solidFill>
            <a:srgbClr val="4ECDC4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6B6B"/>
                </a:solidFill>
                <a:latin typeface="Calibri"/>
              </a:rPr>
              <a:t>THE CORAL 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1097280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E5E7EB"/>
                </a:solidFill>
                <a:latin typeface="Calibri"/>
              </a:rPr>
              <a:t>Five stages, end-to-end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691640"/>
            <a:ext cx="1097280" cy="0"/>
          </a:xfrm>
          <a:prstGeom prst="line">
            <a:avLst/>
          </a:prstGeom>
          <a:ln w="50800">
            <a:solidFill>
              <a:srgbClr val="FF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7200" y="2286000"/>
            <a:ext cx="2240280" cy="3291840"/>
          </a:xfrm>
          <a:prstGeom prst="roundRect">
            <a:avLst>
              <a:gd name="adj" fmla="val 8000"/>
            </a:avLst>
          </a:prstGeom>
          <a:solidFill>
            <a:srgbClr val="162A42"/>
          </a:solidFill>
          <a:ln w="31750">
            <a:solidFill>
              <a:srgbClr val="FF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234440" y="2423160"/>
            <a:ext cx="685800" cy="685800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234440" y="2423160"/>
            <a:ext cx="6858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Calibri"/>
              </a:rPr>
              <a:t>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200400"/>
            <a:ext cx="2240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 i="0">
                <a:solidFill>
                  <a:srgbClr val="E5E7EB"/>
                </a:solidFill>
                <a:latin typeface="Calibri"/>
              </a:rPr>
              <a:t>Normalize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703320"/>
            <a:ext cx="196596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9CA3AF"/>
                </a:solidFill>
                <a:latin typeface="Calibri"/>
              </a:rPr>
              <a:t>Urdu Unicode</a:t>
            </a:r>
          </a:p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9CA3AF"/>
                </a:solidFill>
                <a:latin typeface="Calibri"/>
              </a:rPr>
              <a:t>diacritics, tatweel,</a:t>
            </a:r>
          </a:p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9CA3AF"/>
                </a:solidFill>
                <a:latin typeface="Calibri"/>
              </a:rPr>
              <a:t>ASCII strip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2697480" y="3657600"/>
            <a:ext cx="109728" cy="320040"/>
          </a:xfrm>
          <a:prstGeom prst="rightArrow">
            <a:avLst/>
          </a:prstGeom>
          <a:solidFill>
            <a:srgbClr val="9C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2807208" y="2286000"/>
            <a:ext cx="2240280" cy="3291840"/>
          </a:xfrm>
          <a:prstGeom prst="roundRect">
            <a:avLst>
              <a:gd name="adj" fmla="val 8000"/>
            </a:avLst>
          </a:prstGeom>
          <a:solidFill>
            <a:srgbClr val="162A42"/>
          </a:solidFill>
          <a:ln w="31750">
            <a:solidFill>
              <a:srgbClr val="4ECD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3584448" y="2423160"/>
            <a:ext cx="685800" cy="685800"/>
          </a:xfrm>
          <a:prstGeom prst="ellipse">
            <a:avLst/>
          </a:prstGeom>
          <a:solidFill>
            <a:srgbClr val="4EC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584448" y="2423160"/>
            <a:ext cx="6858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07208" y="3200400"/>
            <a:ext cx="2240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 i="0">
                <a:solidFill>
                  <a:srgbClr val="E5E7EB"/>
                </a:solidFill>
                <a:latin typeface="Calibri"/>
              </a:rPr>
              <a:t>Align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44368" y="3703320"/>
            <a:ext cx="196596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 dirty="0">
                <a:solidFill>
                  <a:srgbClr val="9CA3AF"/>
                </a:solidFill>
                <a:latin typeface="Calibri"/>
              </a:rPr>
              <a:t>Weighted split-merge</a:t>
            </a:r>
          </a:p>
          <a:p>
            <a:pPr algn="ctr">
              <a:lnSpc>
                <a:spcPct val="130000"/>
              </a:lnSpc>
            </a:pPr>
            <a:r>
              <a:rPr sz="1100" b="0" i="0" dirty="0" err="1">
                <a:solidFill>
                  <a:srgbClr val="9CA3AF"/>
                </a:solidFill>
                <a:latin typeface="Calibri"/>
              </a:rPr>
              <a:t>Levenshtein</a:t>
            </a:r>
            <a:endParaRPr sz="1100" b="0" i="0" dirty="0">
              <a:solidFill>
                <a:srgbClr val="9CA3AF"/>
              </a:solidFill>
              <a:latin typeface="Calibri"/>
            </a:endParaRPr>
          </a:p>
          <a:p>
            <a:pPr algn="ctr">
              <a:lnSpc>
                <a:spcPct val="130000"/>
              </a:lnSpc>
            </a:pPr>
            <a:r>
              <a:rPr sz="1100" b="0" i="0" dirty="0">
                <a:solidFill>
                  <a:srgbClr val="9CA3AF"/>
                </a:solidFill>
                <a:latin typeface="Calibri"/>
              </a:rPr>
              <a:t>SAME/SPLIT/MERGE/NOISE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5047488" y="3657600"/>
            <a:ext cx="109728" cy="320040"/>
          </a:xfrm>
          <a:prstGeom prst="rightArrow">
            <a:avLst/>
          </a:prstGeom>
          <a:solidFill>
            <a:srgbClr val="9C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5157216" y="2286000"/>
            <a:ext cx="2240280" cy="3291840"/>
          </a:xfrm>
          <a:prstGeom prst="roundRect">
            <a:avLst>
              <a:gd name="adj" fmla="val 8000"/>
            </a:avLst>
          </a:prstGeom>
          <a:solidFill>
            <a:srgbClr val="162A42"/>
          </a:solidFill>
          <a:ln w="31750">
            <a:solidFill>
              <a:srgbClr val="FFD9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5934456" y="2423160"/>
            <a:ext cx="685800" cy="685800"/>
          </a:xfrm>
          <a:prstGeom prst="ellipse">
            <a:avLst/>
          </a:prstGeom>
          <a:solidFill>
            <a:srgbClr val="FFD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934456" y="2423160"/>
            <a:ext cx="6858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57216" y="3200400"/>
            <a:ext cx="2240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 i="0">
                <a:solidFill>
                  <a:srgbClr val="E5E7EB"/>
                </a:solidFill>
                <a:latin typeface="Calibri"/>
              </a:rPr>
              <a:t>Detect OOV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94376" y="3703320"/>
            <a:ext cx="196596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9CA3AF"/>
                </a:solidFill>
                <a:latin typeface="Calibri"/>
              </a:rPr>
              <a:t>BK-tree fuzzy +</a:t>
            </a:r>
          </a:p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9CA3AF"/>
                </a:solidFill>
                <a:latin typeface="Calibri"/>
              </a:rPr>
              <a:t>bi/tri-gram rank</a:t>
            </a:r>
          </a:p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9CA3AF"/>
                </a:solidFill>
                <a:latin typeface="Calibri"/>
              </a:rPr>
              <a:t>on 500K vocab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7397496" y="3657600"/>
            <a:ext cx="109728" cy="320040"/>
          </a:xfrm>
          <a:prstGeom prst="rightArrow">
            <a:avLst/>
          </a:prstGeom>
          <a:solidFill>
            <a:srgbClr val="9C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7507224" y="2286000"/>
            <a:ext cx="2240280" cy="3291840"/>
          </a:xfrm>
          <a:prstGeom prst="roundRect">
            <a:avLst>
              <a:gd name="adj" fmla="val 8000"/>
            </a:avLst>
          </a:prstGeom>
          <a:solidFill>
            <a:srgbClr val="162A42"/>
          </a:solidFill>
          <a:ln w="3175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8284464" y="2423160"/>
            <a:ext cx="685800" cy="6858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284464" y="2423160"/>
            <a:ext cx="6858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07224" y="3200400"/>
            <a:ext cx="2240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 i="0">
                <a:solidFill>
                  <a:srgbClr val="E5E7EB"/>
                </a:solidFill>
                <a:latin typeface="Calibri"/>
              </a:rPr>
              <a:t>Vote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44384" y="3703320"/>
            <a:ext cx="196596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9CA3AF"/>
                </a:solidFill>
                <a:latin typeface="Calibri"/>
              </a:rPr>
              <a:t>Position-wise majority</a:t>
            </a:r>
          </a:p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9CA3AF"/>
                </a:solidFill>
                <a:latin typeface="Calibri"/>
              </a:rPr>
              <a:t>conservative tie-break</a:t>
            </a:r>
          </a:p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9CA3AF"/>
                </a:solidFill>
                <a:latin typeface="Calibri"/>
              </a:rPr>
              <a:t>OOV substitution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9747504" y="3657600"/>
            <a:ext cx="109728" cy="320040"/>
          </a:xfrm>
          <a:prstGeom prst="rightArrow">
            <a:avLst/>
          </a:prstGeom>
          <a:solidFill>
            <a:srgbClr val="9C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9857232" y="2286000"/>
            <a:ext cx="2240280" cy="3291840"/>
          </a:xfrm>
          <a:prstGeom prst="roundRect">
            <a:avLst>
              <a:gd name="adj" fmla="val 8000"/>
            </a:avLst>
          </a:prstGeom>
          <a:solidFill>
            <a:srgbClr val="162A42"/>
          </a:solidFill>
          <a:ln w="3175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/>
          <p:cNvSpPr/>
          <p:nvPr/>
        </p:nvSpPr>
        <p:spPr>
          <a:xfrm>
            <a:off x="10634472" y="2423160"/>
            <a:ext cx="685800" cy="685800"/>
          </a:xfrm>
          <a:prstGeom prst="ellipse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10634472" y="2423160"/>
            <a:ext cx="6858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57232" y="3200400"/>
            <a:ext cx="2240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 i="0">
                <a:solidFill>
                  <a:srgbClr val="E5E7EB"/>
                </a:solidFill>
                <a:latin typeface="Calibri"/>
              </a:rPr>
              <a:t>LLM Refine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94392" y="3703320"/>
            <a:ext cx="196596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9CA3AF"/>
                </a:solidFill>
                <a:latin typeface="Calibri"/>
              </a:rPr>
              <a:t>Fluency, code-switch,</a:t>
            </a:r>
          </a:p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9CA3AF"/>
                </a:solidFill>
                <a:latin typeface="Calibri"/>
              </a:rPr>
              <a:t>named-entity recovery</a:t>
            </a:r>
          </a:p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9CA3AF"/>
                </a:solidFill>
                <a:latin typeface="Calibri"/>
              </a:rPr>
              <a:t>(Gemini/Claude/GPT)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1874519"/>
            <a:ext cx="4572000" cy="292608"/>
          </a:xfrm>
          <a:prstGeom prst="roundRect">
            <a:avLst>
              <a:gd name="adj" fmla="val 50000"/>
            </a:avLst>
          </a:prstGeom>
          <a:solidFill>
            <a:srgbClr val="0B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6200" tIns="25400" rIns="76200" bIns="25400" rtlCol="0" anchor="ctr"/>
          <a:lstStyle/>
          <a:p>
            <a:pPr algn="ctr"/>
            <a:r>
              <a:rPr sz="1100" b="1">
                <a:solidFill>
                  <a:srgbClr val="4ECDC4"/>
                </a:solidFill>
                <a:latin typeface="Calibri"/>
              </a:rPr>
              <a:t>INPUT  •  raw multi-model ASR hypotheses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132320" y="1874519"/>
            <a:ext cx="4572000" cy="292608"/>
          </a:xfrm>
          <a:prstGeom prst="roundRect">
            <a:avLst>
              <a:gd name="adj" fmla="val 50000"/>
            </a:avLst>
          </a:prstGeom>
          <a:solidFill>
            <a:srgbClr val="0B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6200" tIns="25400" rIns="76200" bIns="25400" rtlCol="0" anchor="ctr"/>
          <a:lstStyle/>
          <a:p>
            <a:pPr algn="ctr"/>
            <a:r>
              <a:rPr sz="1100" b="1">
                <a:solidFill>
                  <a:srgbClr val="FF6B6B"/>
                </a:solidFill>
                <a:latin typeface="Calibri"/>
              </a:rPr>
              <a:t>OUTPUT  •  corrected Urdu transcript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5760720"/>
            <a:ext cx="11247120" cy="685800"/>
          </a:xfrm>
          <a:prstGeom prst="roundRect">
            <a:avLst>
              <a:gd name="adj" fmla="val 8000"/>
            </a:avLst>
          </a:prstGeom>
          <a:solidFill>
            <a:srgbClr val="162A42"/>
          </a:solidFill>
          <a:ln w="9525">
            <a:solidFill>
              <a:srgbClr val="374B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457200" y="5852160"/>
            <a:ext cx="1124712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 i="0">
                <a:solidFill>
                  <a:srgbClr val="E5E7EB"/>
                </a:solidFill>
                <a:latin typeface="Calibri"/>
              </a:rPr>
              <a:t>  Server-side  Stages 0-3  •   Browser-side  Stage 4  •   Audio  →  /transcribe  →  /align  →  /oov  →  /correct  →  LLM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9CA3AF"/>
                </a:solidFill>
                <a:latin typeface="Calibri"/>
              </a:rPr>
              <a:t>CORAL  |  Consensus-Based Refinement and Output Realignment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9CA3AF"/>
                </a:solidFill>
                <a:latin typeface="Calibri"/>
              </a:rPr>
              <a:t>8 / 32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10607040" y="5486400"/>
            <a:ext cx="2377440" cy="2377440"/>
          </a:xfrm>
          <a:prstGeom prst="ellipse">
            <a:avLst/>
          </a:prstGeom>
          <a:solidFill>
            <a:srgbClr val="FF6B6B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-914400" y="-914400"/>
            <a:ext cx="2194560" cy="2194560"/>
          </a:xfrm>
          <a:prstGeom prst="ellipse">
            <a:avLst/>
          </a:prstGeom>
          <a:solidFill>
            <a:srgbClr val="4ECDC4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6B6B"/>
                </a:solidFill>
                <a:latin typeface="Calibri"/>
              </a:rPr>
              <a:t>STAGE 0  •  NORMALISATION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1097280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E5E7EB"/>
                </a:solidFill>
                <a:latin typeface="Calibri"/>
              </a:rPr>
              <a:t>Strip the noise — make Urdu look like Urdu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691640"/>
            <a:ext cx="1097280" cy="0"/>
          </a:xfrm>
          <a:prstGeom prst="line">
            <a:avLst/>
          </a:prstGeom>
          <a:ln w="50800">
            <a:solidFill>
              <a:srgbClr val="FF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40080" y="2194560"/>
            <a:ext cx="5486400" cy="548640"/>
          </a:xfrm>
          <a:prstGeom prst="roundRect">
            <a:avLst>
              <a:gd name="adj" fmla="val 18000"/>
            </a:avLst>
          </a:prstGeom>
          <a:solidFill>
            <a:srgbClr val="162A42"/>
          </a:solidFill>
          <a:ln w="9525">
            <a:solidFill>
              <a:srgbClr val="374B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777240" y="2304288"/>
            <a:ext cx="1188720" cy="329184"/>
          </a:xfrm>
          <a:prstGeom prst="roundRect">
            <a:avLst>
              <a:gd name="adj" fmla="val 50000"/>
            </a:avLst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6200" tIns="25400" rIns="76200" bIns="2540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Diacritics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03120" y="2304288"/>
            <a:ext cx="393192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E5E7EB"/>
                </a:solidFill>
                <a:latin typeface="Calibri"/>
              </a:rPr>
              <a:t>Strip U+0610–U+061A, U+064B–U+065F, U+0670 (superscript alef)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834640"/>
            <a:ext cx="5486400" cy="548640"/>
          </a:xfrm>
          <a:prstGeom prst="roundRect">
            <a:avLst>
              <a:gd name="adj" fmla="val 18000"/>
            </a:avLst>
          </a:prstGeom>
          <a:solidFill>
            <a:srgbClr val="162A42"/>
          </a:solidFill>
          <a:ln w="9525">
            <a:solidFill>
              <a:srgbClr val="374B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777240" y="2944368"/>
            <a:ext cx="1188720" cy="329184"/>
          </a:xfrm>
          <a:prstGeom prst="roundRect">
            <a:avLst>
              <a:gd name="adj" fmla="val 50000"/>
            </a:avLst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6200" tIns="25400" rIns="76200" bIns="2540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Arabic → Urdu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03120" y="2944368"/>
            <a:ext cx="393192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E5E7EB"/>
                </a:solidFill>
                <a:latin typeface="Calibri"/>
              </a:rPr>
              <a:t>7 canonical character maps: ك→ک, ي→ی, ة→ت, ﻻ→لا …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474720"/>
            <a:ext cx="5486400" cy="548640"/>
          </a:xfrm>
          <a:prstGeom prst="roundRect">
            <a:avLst>
              <a:gd name="adj" fmla="val 18000"/>
            </a:avLst>
          </a:prstGeom>
          <a:solidFill>
            <a:srgbClr val="162A42"/>
          </a:solidFill>
          <a:ln w="9525">
            <a:solidFill>
              <a:srgbClr val="374B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777240" y="3584448"/>
            <a:ext cx="1188720" cy="329184"/>
          </a:xfrm>
          <a:prstGeom prst="roundRect">
            <a:avLst>
              <a:gd name="adj" fmla="val 50000"/>
            </a:avLst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6200" tIns="25400" rIns="76200" bIns="2540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Tatweel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3120" y="3584448"/>
            <a:ext cx="393192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E5E7EB"/>
                </a:solidFill>
                <a:latin typeface="Calibri"/>
              </a:rPr>
              <a:t>Remove U+0640 elongation character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114800"/>
            <a:ext cx="5486400" cy="548640"/>
          </a:xfrm>
          <a:prstGeom prst="roundRect">
            <a:avLst>
              <a:gd name="adj" fmla="val 18000"/>
            </a:avLst>
          </a:prstGeom>
          <a:solidFill>
            <a:srgbClr val="162A42"/>
          </a:solidFill>
          <a:ln w="9525">
            <a:solidFill>
              <a:srgbClr val="374B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777240" y="4224528"/>
            <a:ext cx="1188720" cy="329184"/>
          </a:xfrm>
          <a:prstGeom prst="roundRect">
            <a:avLst>
              <a:gd name="adj" fmla="val 50000"/>
            </a:avLst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6200" tIns="25400" rIns="76200" bIns="2540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Punctuation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03120" y="4224528"/>
            <a:ext cx="393192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E5E7EB"/>
                </a:solidFill>
                <a:latin typeface="Calibri"/>
              </a:rPr>
              <a:t>Drop Arabic + Urdu + ASCII punctuation + ZWJ/ZWNJ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754880"/>
            <a:ext cx="5486400" cy="548640"/>
          </a:xfrm>
          <a:prstGeom prst="roundRect">
            <a:avLst>
              <a:gd name="adj" fmla="val 18000"/>
            </a:avLst>
          </a:prstGeom>
          <a:solidFill>
            <a:srgbClr val="162A42"/>
          </a:solidFill>
          <a:ln w="9525">
            <a:solidFill>
              <a:srgbClr val="374B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777240" y="4864608"/>
            <a:ext cx="1188720" cy="329184"/>
          </a:xfrm>
          <a:prstGeom prst="roundRect">
            <a:avLst>
              <a:gd name="adj" fmla="val 50000"/>
            </a:avLst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6200" tIns="25400" rIns="76200" bIns="2540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Whitespace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03120" y="4864608"/>
            <a:ext cx="393192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E5E7EB"/>
                </a:solidFill>
                <a:latin typeface="Calibri"/>
              </a:rPr>
              <a:t>Collapse to single spaces · NFC normalise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5394960"/>
            <a:ext cx="5486400" cy="548640"/>
          </a:xfrm>
          <a:prstGeom prst="roundRect">
            <a:avLst>
              <a:gd name="adj" fmla="val 18000"/>
            </a:avLst>
          </a:prstGeom>
          <a:solidFill>
            <a:srgbClr val="162A42"/>
          </a:solidFill>
          <a:ln w="9525">
            <a:solidFill>
              <a:srgbClr val="374B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777240" y="5504688"/>
            <a:ext cx="1188720" cy="329184"/>
          </a:xfrm>
          <a:prstGeom prst="roundRect">
            <a:avLst>
              <a:gd name="adj" fmla="val 50000"/>
            </a:avLst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6200" tIns="25400" rIns="76200" bIns="2540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Effect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03120" y="5504688"/>
            <a:ext cx="393192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E5E7EB"/>
                </a:solidFill>
                <a:latin typeface="Calibri"/>
              </a:rPr>
              <a:t>1.9 WER points  ↓  on Conversational Urdu — for free.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0" y="2194560"/>
            <a:ext cx="5212080" cy="4023360"/>
          </a:xfrm>
          <a:prstGeom prst="roundRect">
            <a:avLst>
              <a:gd name="adj" fmla="val 5000"/>
            </a:avLst>
          </a:prstGeom>
          <a:solidFill>
            <a:srgbClr val="121A28"/>
          </a:solidFill>
          <a:ln w="9525">
            <a:solidFill>
              <a:srgbClr val="374B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583680" y="228600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4ECDC4"/>
                </a:solidFill>
                <a:latin typeface="Calibri"/>
              </a:rPr>
              <a:t>EXAMPLE  /  before  →  after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2697480"/>
            <a:ext cx="49377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FFD93D"/>
                </a:solidFill>
                <a:latin typeface="Consolas"/>
              </a:rPr>
              <a:t>Raw:    سلامؐ علیکم،   ﻛیسے ہیں — ٹھیک؟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0" y="3108960"/>
            <a:ext cx="4937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6B6B"/>
                </a:solidFill>
                <a:latin typeface="Calibri"/>
              </a:rPr>
              <a:t>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0" y="3520440"/>
            <a:ext cx="49377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4ECDC4"/>
                </a:solidFill>
                <a:latin typeface="Consolas"/>
              </a:rPr>
              <a:t>Norm:  سلام علیکم  کیسے ہیں  ٹھیک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0" y="411480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E5E7EB"/>
                </a:solidFill>
                <a:latin typeface="Calibri"/>
              </a:rPr>
              <a:t>Why Stage 0 matters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4434840"/>
            <a:ext cx="493776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9CA3AF"/>
                </a:solidFill>
                <a:latin typeface="Calibri"/>
              </a:rPr>
              <a:t>A large fraction of apparent ASR errors are NOT recognition failures —</a:t>
            </a:r>
          </a:p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9CA3AF"/>
                </a:solidFill>
                <a:latin typeface="Calibri"/>
              </a:rPr>
              <a:t>they are Unicode-variant mismatches against the reference. Stage 0 dissolves</a:t>
            </a:r>
          </a:p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9CA3AF"/>
                </a:solidFill>
                <a:latin typeface="Calibri"/>
              </a:rPr>
              <a:t>this measurement artefact before any downstream voting decision.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9CA3AF"/>
                </a:solidFill>
                <a:latin typeface="Calibri"/>
              </a:rPr>
              <a:t>CORAL  |  Consensus-Based Refinement and Output Realignment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9CA3AF"/>
                </a:solidFill>
                <a:latin typeface="Calibri"/>
              </a:rPr>
              <a:t>9 / 32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10607040" y="5486400"/>
            <a:ext cx="2377440" cy="2377440"/>
          </a:xfrm>
          <a:prstGeom prst="ellipse">
            <a:avLst/>
          </a:prstGeom>
          <a:solidFill>
            <a:srgbClr val="FF6B6B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-914400" y="-914400"/>
            <a:ext cx="2194560" cy="2194560"/>
          </a:xfrm>
          <a:prstGeom prst="ellipse">
            <a:avLst/>
          </a:prstGeom>
          <a:solidFill>
            <a:srgbClr val="4ECDC4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6B6B"/>
                </a:solidFill>
                <a:latin typeface="Calibri"/>
              </a:rPr>
              <a:t>STAGE 1  •  SPLIT-MERGE ALIGNMENT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1097280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E5E7EB"/>
                </a:solidFill>
                <a:latin typeface="Calibri"/>
              </a:rPr>
              <a:t>Word boundaries are first-class citizens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691640"/>
            <a:ext cx="1097280" cy="0"/>
          </a:xfrm>
          <a:prstGeom prst="line">
            <a:avLst/>
          </a:prstGeom>
          <a:ln w="50800">
            <a:solidFill>
              <a:srgbClr val="FF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40080" y="210312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4ECDC4"/>
                </a:solidFill>
                <a:latin typeface="Calibri"/>
              </a:rPr>
              <a:t>The Core Insight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68880"/>
            <a:ext cx="54864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E5E7EB"/>
                </a:solidFill>
                <a:latin typeface="Calibri"/>
              </a:rPr>
              <a:t>Different ASR models disagree on WHERE word boundaries fall. One model emits a phrase as a single token; another splits it in two; a third merges across syllables. ROVER mis-reads this as substitution.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02336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E5E7EB"/>
                </a:solidFill>
                <a:latin typeface="Calibri"/>
              </a:rPr>
              <a:t>Per-chunk metadata produced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434840"/>
            <a:ext cx="914400" cy="320040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6200" tIns="25400" rIns="76200" bIns="25400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SAME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4416552"/>
            <a:ext cx="438912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E5E7EB"/>
                </a:solidFill>
                <a:latin typeface="Calibri"/>
              </a:rPr>
              <a:t>tokens align 1:1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828032"/>
            <a:ext cx="914400" cy="320040"/>
          </a:xfrm>
          <a:prstGeom prst="roundRect">
            <a:avLst>
              <a:gd name="adj" fmla="val 50000"/>
            </a:avLst>
          </a:prstGeom>
          <a:solidFill>
            <a:srgbClr val="FFD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6200" tIns="25400" rIns="76200" bIns="25400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SPLIT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4809744"/>
            <a:ext cx="438912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E5E7EB"/>
                </a:solidFill>
                <a:latin typeface="Calibri"/>
              </a:rPr>
              <a:t>one source token → many target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221224"/>
            <a:ext cx="914400" cy="32004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6200" tIns="25400" rIns="76200" bIns="25400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MERGE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5202936"/>
            <a:ext cx="438912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E5E7EB"/>
                </a:solidFill>
                <a:latin typeface="Calibri"/>
              </a:rPr>
              <a:t>many source → one target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614416"/>
            <a:ext cx="914400" cy="320040"/>
          </a:xfrm>
          <a:prstGeom prst="roundRect">
            <a:avLst>
              <a:gd name="adj" fmla="val 50000"/>
            </a:avLst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6200" tIns="25400" rIns="76200" bIns="25400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NOISE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91640" y="5596128"/>
            <a:ext cx="438912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E5E7EB"/>
                </a:solidFill>
                <a:latin typeface="Calibri"/>
              </a:rPr>
              <a:t>neither side aligns reliably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080760"/>
            <a:ext cx="5486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1">
                <a:solidFill>
                  <a:srgbClr val="FF6B6B"/>
                </a:solidFill>
                <a:latin typeface="Calibri"/>
              </a:rPr>
              <a:t>→ 36.5% of all alignment events on Conversational Urdu are SPLIT or MERGE.</a:t>
            </a:r>
          </a:p>
          <a:p>
            <a:pPr algn="l">
              <a:lnSpc>
                <a:spcPct val="140000"/>
              </a:lnSpc>
            </a:pPr>
            <a:r>
              <a:rPr sz="1150" b="0" i="1">
                <a:solidFill>
                  <a:srgbClr val="FF6B6B"/>
                </a:solidFill>
                <a:latin typeface="Calibri"/>
              </a:rPr>
              <a:t>→ Existing fusion methods (ROVER) lose this signal entirely.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0" y="2057400"/>
            <a:ext cx="5349240" cy="4160520"/>
          </a:xfrm>
          <a:prstGeom prst="roundRect">
            <a:avLst>
              <a:gd name="adj" fmla="val 4000"/>
            </a:avLst>
          </a:prstGeom>
          <a:solidFill>
            <a:srgbClr val="121F35"/>
          </a:solidFill>
          <a:ln w="9525">
            <a:solidFill>
              <a:srgbClr val="374B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629400" y="2148840"/>
            <a:ext cx="4892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E5E7EB"/>
                </a:solidFill>
                <a:latin typeface="Calibri"/>
              </a:rPr>
              <a:t>Alignment input — three model attempts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29400" y="2560320"/>
            <a:ext cx="1280160" cy="457200"/>
          </a:xfrm>
          <a:prstGeom prst="roundRect">
            <a:avLst>
              <a:gd name="adj" fmla="val 20000"/>
            </a:avLst>
          </a:prstGeom>
          <a:solidFill>
            <a:srgbClr val="162A42"/>
          </a:solidFill>
          <a:ln w="15240">
            <a:solidFill>
              <a:srgbClr val="FFD9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629400" y="2560320"/>
            <a:ext cx="12801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FFD93D"/>
                </a:solidFill>
                <a:latin typeface="Calibri"/>
              </a:rPr>
              <a:t>whisper-L · src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01000" y="2560320"/>
            <a:ext cx="825246" cy="457200"/>
          </a:xfrm>
          <a:prstGeom prst="roundRect">
            <a:avLst>
              <a:gd name="adj" fmla="val 18000"/>
            </a:avLst>
          </a:prstGeom>
          <a:solidFill>
            <a:srgbClr val="10B981"/>
          </a:solidFill>
          <a:ln w="635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001000" y="2560320"/>
            <a:ext cx="825246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899398" y="2560320"/>
            <a:ext cx="825246" cy="457200"/>
          </a:xfrm>
          <a:prstGeom prst="roundRect">
            <a:avLst>
              <a:gd name="adj" fmla="val 18000"/>
            </a:avLst>
          </a:prstGeom>
          <a:solidFill>
            <a:srgbClr val="F59E0B"/>
          </a:solidFill>
          <a:ln w="635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899398" y="2560320"/>
            <a:ext cx="825246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B-C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797796" y="2560320"/>
            <a:ext cx="825246" cy="457200"/>
          </a:xfrm>
          <a:prstGeom prst="roundRect">
            <a:avLst>
              <a:gd name="adj" fmla="val 18000"/>
            </a:avLst>
          </a:prstGeom>
          <a:solidFill>
            <a:srgbClr val="10B981"/>
          </a:solidFill>
          <a:ln w="635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797796" y="2560320"/>
            <a:ext cx="825246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696194" y="2560320"/>
            <a:ext cx="825246" cy="457200"/>
          </a:xfrm>
          <a:prstGeom prst="roundRect">
            <a:avLst>
              <a:gd name="adj" fmla="val 18000"/>
            </a:avLst>
          </a:prstGeom>
          <a:solidFill>
            <a:srgbClr val="10B981"/>
          </a:solidFill>
          <a:ln w="635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0696194" y="2560320"/>
            <a:ext cx="825246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629400" y="3218688"/>
            <a:ext cx="1280160" cy="457200"/>
          </a:xfrm>
          <a:prstGeom prst="roundRect">
            <a:avLst>
              <a:gd name="adj" fmla="val 20000"/>
            </a:avLst>
          </a:prstGeom>
          <a:solidFill>
            <a:srgbClr val="162A42"/>
          </a:solidFill>
          <a:ln w="1524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629400" y="3218688"/>
            <a:ext cx="12801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3B82F6"/>
                </a:solidFill>
                <a:latin typeface="Calibri"/>
              </a:rPr>
              <a:t>seamless-L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01000" y="3218688"/>
            <a:ext cx="645566" cy="457200"/>
          </a:xfrm>
          <a:prstGeom prst="roundRect">
            <a:avLst>
              <a:gd name="adj" fmla="val 18000"/>
            </a:avLst>
          </a:prstGeom>
          <a:solidFill>
            <a:srgbClr val="10B981"/>
          </a:solidFill>
          <a:ln w="635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001000" y="3218688"/>
            <a:ext cx="645566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719718" y="3218688"/>
            <a:ext cx="645566" cy="457200"/>
          </a:xfrm>
          <a:prstGeom prst="roundRect">
            <a:avLst>
              <a:gd name="adj" fmla="val 18000"/>
            </a:avLst>
          </a:prstGeom>
          <a:solidFill>
            <a:srgbClr val="FF6B6B"/>
          </a:solidFill>
          <a:ln w="6350">
            <a:solidFill>
              <a:srgbClr val="FF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719718" y="3218688"/>
            <a:ext cx="645566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438436" y="3218688"/>
            <a:ext cx="645566" cy="457200"/>
          </a:xfrm>
          <a:prstGeom prst="roundRect">
            <a:avLst>
              <a:gd name="adj" fmla="val 18000"/>
            </a:avLst>
          </a:prstGeom>
          <a:solidFill>
            <a:srgbClr val="FF6B6B"/>
          </a:solidFill>
          <a:ln w="6350">
            <a:solidFill>
              <a:srgbClr val="FF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9438436" y="3218688"/>
            <a:ext cx="645566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0157155" y="3218688"/>
            <a:ext cx="645566" cy="457200"/>
          </a:xfrm>
          <a:prstGeom prst="roundRect">
            <a:avLst>
              <a:gd name="adj" fmla="val 18000"/>
            </a:avLst>
          </a:prstGeom>
          <a:solidFill>
            <a:srgbClr val="10B981"/>
          </a:solidFill>
          <a:ln w="635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10157155" y="3218688"/>
            <a:ext cx="645566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875873" y="3218688"/>
            <a:ext cx="645566" cy="457200"/>
          </a:xfrm>
          <a:prstGeom prst="roundRect">
            <a:avLst>
              <a:gd name="adj" fmla="val 18000"/>
            </a:avLst>
          </a:prstGeom>
          <a:solidFill>
            <a:srgbClr val="10B981"/>
          </a:solidFill>
          <a:ln w="635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10875873" y="3218688"/>
            <a:ext cx="645566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629400" y="3877056"/>
            <a:ext cx="1280160" cy="457200"/>
          </a:xfrm>
          <a:prstGeom prst="roundRect">
            <a:avLst>
              <a:gd name="adj" fmla="val 20000"/>
            </a:avLst>
          </a:prstGeom>
          <a:solidFill>
            <a:srgbClr val="162A42"/>
          </a:solidFill>
          <a:ln w="1524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629400" y="3877056"/>
            <a:ext cx="12801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8B5CF6"/>
                </a:solidFill>
                <a:latin typeface="Calibri"/>
              </a:rPr>
              <a:t>wav2vec2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001000" y="3877056"/>
            <a:ext cx="825246" cy="457200"/>
          </a:xfrm>
          <a:prstGeom prst="roundRect">
            <a:avLst>
              <a:gd name="adj" fmla="val 18000"/>
            </a:avLst>
          </a:prstGeom>
          <a:solidFill>
            <a:srgbClr val="10B981"/>
          </a:solidFill>
          <a:ln w="635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8001000" y="3877056"/>
            <a:ext cx="825246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899398" y="3877056"/>
            <a:ext cx="825246" cy="457200"/>
          </a:xfrm>
          <a:prstGeom prst="roundRect">
            <a:avLst>
              <a:gd name="adj" fmla="val 18000"/>
            </a:avLst>
          </a:prstGeom>
          <a:solidFill>
            <a:srgbClr val="F59E0B"/>
          </a:solidFill>
          <a:ln w="635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8899398" y="3877056"/>
            <a:ext cx="825246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BC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797796" y="3877056"/>
            <a:ext cx="825246" cy="457200"/>
          </a:xfrm>
          <a:prstGeom prst="roundRect">
            <a:avLst>
              <a:gd name="adj" fmla="val 18000"/>
            </a:avLst>
          </a:prstGeom>
          <a:solidFill>
            <a:srgbClr val="10B981"/>
          </a:solidFill>
          <a:ln w="635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9797796" y="3877056"/>
            <a:ext cx="825246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0696194" y="3877056"/>
            <a:ext cx="825246" cy="457200"/>
          </a:xfrm>
          <a:prstGeom prst="roundRect">
            <a:avLst>
              <a:gd name="adj" fmla="val 18000"/>
            </a:avLst>
          </a:prstGeom>
          <a:solidFill>
            <a:srgbClr val="10B981"/>
          </a:solidFill>
          <a:ln w="635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10696194" y="3877056"/>
            <a:ext cx="825246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629400" y="4581144"/>
            <a:ext cx="4892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4ECDC4"/>
                </a:solidFill>
                <a:latin typeface="Calibri"/>
              </a:rPr>
              <a:t>Per-chunk classification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629400" y="4873752"/>
            <a:ext cx="905256" cy="713232"/>
          </a:xfrm>
          <a:prstGeom prst="roundRect">
            <a:avLst>
              <a:gd name="adj" fmla="val 10000"/>
            </a:avLst>
          </a:prstGeom>
          <a:solidFill>
            <a:srgbClr val="162A42"/>
          </a:solidFill>
          <a:ln w="1905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ounded Rectangle 55"/>
          <p:cNvSpPr/>
          <p:nvPr/>
        </p:nvSpPr>
        <p:spPr>
          <a:xfrm>
            <a:off x="6720840" y="4946904"/>
            <a:ext cx="722376" cy="274320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6200" tIns="25400" rIns="76200" bIns="2540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SAME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629400" y="5239512"/>
            <a:ext cx="905256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E5E7EB"/>
                </a:solidFill>
                <a:latin typeface="Consolas"/>
              </a:rPr>
              <a:t>A=A=A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626096" y="4873752"/>
            <a:ext cx="905256" cy="713232"/>
          </a:xfrm>
          <a:prstGeom prst="roundRect">
            <a:avLst>
              <a:gd name="adj" fmla="val 10000"/>
            </a:avLst>
          </a:prstGeom>
          <a:solidFill>
            <a:srgbClr val="162A42"/>
          </a:solidFill>
          <a:ln w="19050">
            <a:solidFill>
              <a:srgbClr val="FF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ounded Rectangle 58"/>
          <p:cNvSpPr/>
          <p:nvPr/>
        </p:nvSpPr>
        <p:spPr>
          <a:xfrm>
            <a:off x="7717536" y="4946904"/>
            <a:ext cx="722376" cy="274320"/>
          </a:xfrm>
          <a:prstGeom prst="roundRect">
            <a:avLst>
              <a:gd name="adj" fmla="val 50000"/>
            </a:avLst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6200" tIns="25400" rIns="76200" bIns="2540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SPLIT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626096" y="5239512"/>
            <a:ext cx="905256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E5E7EB"/>
                </a:solidFill>
                <a:latin typeface="Consolas"/>
              </a:rPr>
              <a:t>B-C ↔ B,C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8622792" y="4873752"/>
            <a:ext cx="905256" cy="713232"/>
          </a:xfrm>
          <a:prstGeom prst="roundRect">
            <a:avLst>
              <a:gd name="adj" fmla="val 10000"/>
            </a:avLst>
          </a:prstGeom>
          <a:solidFill>
            <a:srgbClr val="162A42"/>
          </a:solidFill>
          <a:ln w="1905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Rounded Rectangle 61"/>
          <p:cNvSpPr/>
          <p:nvPr/>
        </p:nvSpPr>
        <p:spPr>
          <a:xfrm>
            <a:off x="8714232" y="4946904"/>
            <a:ext cx="722376" cy="27432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6200" tIns="25400" rIns="76200" bIns="2540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MERGE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622792" y="5239512"/>
            <a:ext cx="905256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E5E7EB"/>
                </a:solidFill>
                <a:latin typeface="Consolas"/>
              </a:rPr>
              <a:t>B-C ↔ BC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619488" y="4873752"/>
            <a:ext cx="905256" cy="713232"/>
          </a:xfrm>
          <a:prstGeom prst="roundRect">
            <a:avLst>
              <a:gd name="adj" fmla="val 10000"/>
            </a:avLst>
          </a:prstGeom>
          <a:solidFill>
            <a:srgbClr val="162A42"/>
          </a:solidFill>
          <a:ln w="1905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Rounded Rectangle 64"/>
          <p:cNvSpPr/>
          <p:nvPr/>
        </p:nvSpPr>
        <p:spPr>
          <a:xfrm>
            <a:off x="9710928" y="4946904"/>
            <a:ext cx="722376" cy="274320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6200" tIns="25400" rIns="76200" bIns="2540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SAME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619488" y="5239512"/>
            <a:ext cx="905256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E5E7EB"/>
                </a:solidFill>
                <a:latin typeface="Consolas"/>
              </a:rPr>
              <a:t>D=D=D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10616184" y="4873752"/>
            <a:ext cx="905256" cy="713232"/>
          </a:xfrm>
          <a:prstGeom prst="roundRect">
            <a:avLst>
              <a:gd name="adj" fmla="val 10000"/>
            </a:avLst>
          </a:prstGeom>
          <a:solidFill>
            <a:srgbClr val="162A42"/>
          </a:solidFill>
          <a:ln w="1905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Rounded Rectangle 67"/>
          <p:cNvSpPr/>
          <p:nvPr/>
        </p:nvSpPr>
        <p:spPr>
          <a:xfrm>
            <a:off x="10707624" y="4946904"/>
            <a:ext cx="722376" cy="274320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6200" tIns="25400" rIns="76200" bIns="2540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SAME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616184" y="5239512"/>
            <a:ext cx="905256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E5E7EB"/>
                </a:solidFill>
                <a:latin typeface="Consolas"/>
              </a:rPr>
              <a:t>E=E=E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9CA3AF"/>
                </a:solidFill>
                <a:latin typeface="Calibri"/>
              </a:rPr>
              <a:t>CORAL  |  Consensus-Based Refinement and Output Realignment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9CA3AF"/>
                </a:solidFill>
                <a:latin typeface="Calibri"/>
              </a:rPr>
              <a:t>10 / 32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10607040" y="5486400"/>
            <a:ext cx="2377440" cy="2377440"/>
          </a:xfrm>
          <a:prstGeom prst="ellipse">
            <a:avLst/>
          </a:prstGeom>
          <a:solidFill>
            <a:srgbClr val="FF6B6B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-914400" y="-914400"/>
            <a:ext cx="2194560" cy="2194560"/>
          </a:xfrm>
          <a:prstGeom prst="ellipse">
            <a:avLst/>
          </a:prstGeom>
          <a:solidFill>
            <a:srgbClr val="4ECDC4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6B6B"/>
                </a:solidFill>
                <a:latin typeface="Calibri"/>
              </a:rPr>
              <a:t>STAGE 2  •  OOV DETECTION + BK-TREE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1097280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E5E7EB"/>
                </a:solidFill>
                <a:latin typeface="Calibri"/>
              </a:rPr>
              <a:t>Find the rare words. Correct them with context.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691640"/>
            <a:ext cx="1097280" cy="0"/>
          </a:xfrm>
          <a:prstGeom prst="line">
            <a:avLst/>
          </a:prstGeom>
          <a:ln w="50800">
            <a:solidFill>
              <a:srgbClr val="FF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400800" y="2057400"/>
            <a:ext cx="5349240" cy="4160520"/>
          </a:xfrm>
          <a:prstGeom prst="roundRect">
            <a:avLst>
              <a:gd name="adj" fmla="val 4000"/>
            </a:avLst>
          </a:prstGeom>
          <a:solidFill>
            <a:srgbClr val="121F35"/>
          </a:solidFill>
          <a:ln w="9525">
            <a:solidFill>
              <a:srgbClr val="374B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629400" y="2148840"/>
            <a:ext cx="48920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4ECDC4"/>
                </a:solidFill>
                <a:latin typeface="Calibri"/>
              </a:rPr>
              <a:t>Token stream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29400" y="2468880"/>
            <a:ext cx="919886" cy="457200"/>
          </a:xfrm>
          <a:prstGeom prst="roundRect">
            <a:avLst>
              <a:gd name="adj" fmla="val 18000"/>
            </a:avLst>
          </a:prstGeom>
          <a:solidFill>
            <a:srgbClr val="10B981"/>
          </a:solidFill>
          <a:ln w="635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629400" y="2468880"/>
            <a:ext cx="919886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سلام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22438" y="2468880"/>
            <a:ext cx="919886" cy="457200"/>
          </a:xfrm>
          <a:prstGeom prst="roundRect">
            <a:avLst>
              <a:gd name="adj" fmla="val 18000"/>
            </a:avLst>
          </a:prstGeom>
          <a:solidFill>
            <a:srgbClr val="10B981"/>
          </a:solidFill>
          <a:ln w="635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622438" y="2468880"/>
            <a:ext cx="919886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آپ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15476" y="2468880"/>
            <a:ext cx="919886" cy="457200"/>
          </a:xfrm>
          <a:prstGeom prst="roundRect">
            <a:avLst>
              <a:gd name="adj" fmla="val 18000"/>
            </a:avLst>
          </a:prstGeom>
          <a:solidFill>
            <a:srgbClr val="FF6B6B"/>
          </a:solidFill>
          <a:ln w="6350">
            <a:solidFill>
              <a:srgbClr val="FF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615476" y="2468880"/>
            <a:ext cx="919886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بازر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15476" y="2194560"/>
            <a:ext cx="919886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FF6B6B"/>
                </a:solidFill>
                <a:latin typeface="Calibri"/>
              </a:rPr>
              <a:t>OOV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08515" y="2468880"/>
            <a:ext cx="919886" cy="457200"/>
          </a:xfrm>
          <a:prstGeom prst="roundRect">
            <a:avLst>
              <a:gd name="adj" fmla="val 18000"/>
            </a:avLst>
          </a:prstGeom>
          <a:solidFill>
            <a:srgbClr val="10B981"/>
          </a:solidFill>
          <a:ln w="635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608515" y="2468880"/>
            <a:ext cx="919886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کیسے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601553" y="2468880"/>
            <a:ext cx="919886" cy="457200"/>
          </a:xfrm>
          <a:prstGeom prst="roundRect">
            <a:avLst>
              <a:gd name="adj" fmla="val 18000"/>
            </a:avLst>
          </a:prstGeom>
          <a:solidFill>
            <a:srgbClr val="10B981"/>
          </a:solidFill>
          <a:ln w="635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601553" y="2468880"/>
            <a:ext cx="919886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ہیں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0" y="2926080"/>
            <a:ext cx="0" cy="365760"/>
          </a:xfrm>
          <a:prstGeom prst="line">
            <a:avLst/>
          </a:prstGeom>
          <a:ln w="20320">
            <a:solidFill>
              <a:srgbClr val="FF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8938260" y="2971800"/>
            <a:ext cx="2743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6B6B"/>
                </a:solidFill>
                <a:latin typeface="Calibri"/>
              </a:rPr>
              <a:t>↓</a:t>
            </a:r>
          </a:p>
        </p:txBody>
      </p:sp>
      <p:sp>
        <p:nvSpPr>
          <p:cNvPr id="23" name="Oval 22"/>
          <p:cNvSpPr/>
          <p:nvPr/>
        </p:nvSpPr>
        <p:spPr>
          <a:xfrm>
            <a:off x="8343900" y="3429000"/>
            <a:ext cx="1463040" cy="777240"/>
          </a:xfrm>
          <a:prstGeom prst="ellipse">
            <a:avLst/>
          </a:prstGeom>
          <a:solidFill>
            <a:srgbClr val="4ECDC4"/>
          </a:solidFill>
          <a:ln w="19050">
            <a:solidFill>
              <a:srgbClr val="4ECD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343900" y="3429000"/>
            <a:ext cx="146304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BK-tree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03820" y="4251960"/>
            <a:ext cx="274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1">
                <a:solidFill>
                  <a:srgbClr val="9CA3AF"/>
                </a:solidFill>
                <a:latin typeface="Calibri"/>
              </a:rPr>
              <a:t>~500K-word Urdu corpus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4434840"/>
            <a:ext cx="48920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4ECDC4"/>
                </a:solidFill>
                <a:latin typeface="Calibri"/>
              </a:rPr>
              <a:t>Candidates · ranked (edit · uni · tri · bi · freq)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144000" y="4709160"/>
            <a:ext cx="2286000" cy="411480"/>
          </a:xfrm>
          <a:prstGeom prst="roundRect">
            <a:avLst>
              <a:gd name="adj" fmla="val 20000"/>
            </a:avLst>
          </a:prstGeom>
          <a:solidFill>
            <a:srgbClr val="162A42"/>
          </a:solidFill>
          <a:ln w="2032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235440" y="4709160"/>
            <a:ext cx="100584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0B981"/>
                </a:solidFill>
                <a:latin typeface="Calibri"/>
              </a:rPr>
              <a:t>بازار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41280" y="4709160"/>
            <a:ext cx="109728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9CA3AF"/>
                </a:solidFill>
                <a:latin typeface="Consolas"/>
              </a:rPr>
              <a:t>edit=1 · top-1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09960" y="4709160"/>
            <a:ext cx="27432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D93D"/>
                </a:solidFill>
                <a:latin typeface="Calibri"/>
              </a:rPr>
              <a:t>★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144000" y="5230368"/>
            <a:ext cx="2286000" cy="411480"/>
          </a:xfrm>
          <a:prstGeom prst="roundRect">
            <a:avLst>
              <a:gd name="adj" fmla="val 20000"/>
            </a:avLst>
          </a:prstGeom>
          <a:solidFill>
            <a:srgbClr val="162A42"/>
          </a:solidFill>
          <a:ln w="10160">
            <a:solidFill>
              <a:srgbClr val="FFD9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235440" y="5230368"/>
            <a:ext cx="100584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D93D"/>
                </a:solidFill>
                <a:latin typeface="Calibri"/>
              </a:rPr>
              <a:t>بازی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41280" y="5230368"/>
            <a:ext cx="109728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9CA3AF"/>
                </a:solidFill>
                <a:latin typeface="Consolas"/>
              </a:rPr>
              <a:t>edit=1 · uni-hit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144000" y="5751576"/>
            <a:ext cx="2286000" cy="411480"/>
          </a:xfrm>
          <a:prstGeom prst="roundRect">
            <a:avLst>
              <a:gd name="adj" fmla="val 20000"/>
            </a:avLst>
          </a:prstGeom>
          <a:solidFill>
            <a:srgbClr val="162A42"/>
          </a:solidFill>
          <a:ln w="1016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9235440" y="5751576"/>
            <a:ext cx="100584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9CA3AF"/>
                </a:solidFill>
                <a:latin typeface="Calibri"/>
              </a:rPr>
              <a:t>بزرگ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241280" y="5751576"/>
            <a:ext cx="109728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9CA3AF"/>
                </a:solidFill>
                <a:latin typeface="Consolas"/>
              </a:rPr>
              <a:t>edit=2 · weak</a:t>
            </a:r>
          </a:p>
        </p:txBody>
      </p:sp>
      <p:cxnSp>
        <p:nvCxnSpPr>
          <p:cNvPr id="37" name="Connector 36"/>
          <p:cNvCxnSpPr/>
          <p:nvPr/>
        </p:nvCxnSpPr>
        <p:spPr>
          <a:xfrm flipH="1">
            <a:off x="9144000" y="0"/>
            <a:ext cx="0" cy="0"/>
          </a:xfrm>
          <a:prstGeom prst="line">
            <a:avLst/>
          </a:prstGeom>
          <a:ln w="11430">
            <a:solidFill>
              <a:srgbClr val="4ECDC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H="1">
            <a:off x="9144000" y="0"/>
            <a:ext cx="0" cy="0"/>
          </a:xfrm>
          <a:prstGeom prst="line">
            <a:avLst/>
          </a:prstGeom>
          <a:ln w="11430">
            <a:solidFill>
              <a:srgbClr val="4ECDC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H="1">
            <a:off x="9144000" y="0"/>
            <a:ext cx="0" cy="0"/>
          </a:xfrm>
          <a:prstGeom prst="line">
            <a:avLst/>
          </a:prstGeom>
          <a:ln w="11430">
            <a:solidFill>
              <a:srgbClr val="4ECDC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6629400" y="6364224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0B981"/>
                </a:solidFill>
                <a:latin typeface="Calibri"/>
              </a:rPr>
              <a:t>Selected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909560" y="6318504"/>
            <a:ext cx="1828800" cy="411480"/>
          </a:xfrm>
          <a:prstGeom prst="roundRect">
            <a:avLst>
              <a:gd name="adj" fmla="val 18000"/>
            </a:avLst>
          </a:prstGeom>
          <a:solidFill>
            <a:srgbClr val="10B981"/>
          </a:solidFill>
          <a:ln w="635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7909560" y="6318504"/>
            <a:ext cx="182880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بازار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" y="210312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4ECDC4"/>
                </a:solidFill>
                <a:latin typeface="Calibri"/>
              </a:rPr>
              <a:t>OOV criterion (FR3.1)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80" y="2468880"/>
            <a:ext cx="5486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E5E7EB"/>
                </a:solidFill>
                <a:latin typeface="Calibri"/>
              </a:rPr>
              <a:t>Flag a token as OOV iff it appears in EXACTLY ONE model's output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E5E7EB"/>
                </a:solidFill>
                <a:latin typeface="Calibri"/>
              </a:rPr>
              <a:t>AND its corpus frequency is below 2 000.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0080" y="338328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4ECDC4"/>
                </a:solidFill>
                <a:latin typeface="Calibri"/>
              </a:rPr>
              <a:t>BK-tree fuzzy lookup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" y="3749039"/>
            <a:ext cx="54864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E5E7EB"/>
                </a:solidFill>
                <a:latin typeface="Calibri"/>
              </a:rPr>
              <a:t>Burkhard-Keller tree over a ~500K-word Urdu vocabulary corpus.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E5E7EB"/>
                </a:solidFill>
                <a:latin typeface="Calibri"/>
              </a:rPr>
              <a:t>Length-adaptive edit-distance threshold. &gt;10× faster than linear scan.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0080" y="475488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4ECDC4"/>
                </a:solidFill>
                <a:latin typeface="Calibri"/>
              </a:rPr>
              <a:t>Ranking signals (lexicographic)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0080" y="5120640"/>
            <a:ext cx="5486400" cy="1645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E5E7EB"/>
                </a:solidFill>
                <a:latin typeface="Calibri"/>
              </a:rPr>
              <a:t>1.  Edit distance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E5E7EB"/>
                </a:solidFill>
                <a:latin typeface="Calibri"/>
              </a:rPr>
              <a:t>2.  Unigram presence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E5E7EB"/>
                </a:solidFill>
                <a:latin typeface="Calibri"/>
              </a:rPr>
              <a:t>3.  Trigram-context hits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E5E7EB"/>
                </a:solidFill>
                <a:latin typeface="Calibri"/>
              </a:rPr>
              <a:t>4.  Bigram-context hits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E5E7EB"/>
                </a:solidFill>
                <a:latin typeface="Calibri"/>
              </a:rPr>
              <a:t>5.  Corpus frequency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9CA3AF"/>
                </a:solidFill>
                <a:latin typeface="Calibri"/>
              </a:rPr>
              <a:t>CORAL  |  Consensus-Based Refinement and Output Realignment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9CA3AF"/>
                </a:solidFill>
                <a:latin typeface="Calibri"/>
              </a:rPr>
              <a:t>11 / 32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10607040" y="5486400"/>
            <a:ext cx="2377440" cy="2377440"/>
          </a:xfrm>
          <a:prstGeom prst="ellipse">
            <a:avLst/>
          </a:prstGeom>
          <a:solidFill>
            <a:srgbClr val="FF6B6B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-914400" y="-914400"/>
            <a:ext cx="2194560" cy="2194560"/>
          </a:xfrm>
          <a:prstGeom prst="ellipse">
            <a:avLst/>
          </a:prstGeom>
          <a:solidFill>
            <a:srgbClr val="4ECDC4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6B6B"/>
                </a:solidFill>
                <a:latin typeface="Calibri"/>
              </a:rPr>
              <a:t>STAGE 3  •  CONSENSUS VOTING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1097280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E5E7EB"/>
                </a:solidFill>
                <a:latin typeface="Calibri"/>
              </a:rPr>
              <a:t>Position-wise majority — but conservative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691640"/>
            <a:ext cx="1097280" cy="0"/>
          </a:xfrm>
          <a:prstGeom prst="line">
            <a:avLst/>
          </a:prstGeom>
          <a:ln w="50800">
            <a:solidFill>
              <a:srgbClr val="FF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40080" y="2194560"/>
            <a:ext cx="7315200" cy="640080"/>
          </a:xfrm>
          <a:prstGeom prst="roundRect">
            <a:avLst>
              <a:gd name="adj" fmla="val 10000"/>
            </a:avLst>
          </a:prstGeom>
          <a:solidFill>
            <a:srgbClr val="162A42"/>
          </a:solidFill>
          <a:ln w="9525">
            <a:solidFill>
              <a:srgbClr val="374B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2304288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0B981"/>
                </a:solidFill>
                <a:latin typeface="Calibri"/>
              </a:rPr>
              <a:t>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286000"/>
            <a:ext cx="676656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E5E7EB"/>
                </a:solidFill>
                <a:latin typeface="Calibri"/>
              </a:rPr>
              <a:t>For each non-OOV source position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578608"/>
            <a:ext cx="67665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9CA3AF"/>
                </a:solidFill>
                <a:latin typeface="Calibri"/>
              </a:rPr>
              <a:t>Collect votes from companion models. Skip insertion-aligned slots.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926080"/>
            <a:ext cx="7315200" cy="640080"/>
          </a:xfrm>
          <a:prstGeom prst="roundRect">
            <a:avLst>
              <a:gd name="adj" fmla="val 10000"/>
            </a:avLst>
          </a:prstGeom>
          <a:solidFill>
            <a:srgbClr val="162A42"/>
          </a:solidFill>
          <a:ln w="9525">
            <a:solidFill>
              <a:srgbClr val="374B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77240" y="3035808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0B981"/>
                </a:solidFill>
                <a:latin typeface="Calibri"/>
              </a:rPr>
              <a:t>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017520"/>
            <a:ext cx="676656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E5E7EB"/>
                </a:solidFill>
                <a:latin typeface="Calibri"/>
              </a:rPr>
              <a:t>Plurality wins — uniquely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3310128"/>
            <a:ext cx="67665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9CA3AF"/>
                </a:solidFill>
                <a:latin typeface="Calibri"/>
              </a:rPr>
              <a:t>Replace the source word only if there is a UNIQUE plurality winner.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657600"/>
            <a:ext cx="7315200" cy="640080"/>
          </a:xfrm>
          <a:prstGeom prst="roundRect">
            <a:avLst>
              <a:gd name="adj" fmla="val 10000"/>
            </a:avLst>
          </a:prstGeom>
          <a:solidFill>
            <a:srgbClr val="162A42"/>
          </a:solidFill>
          <a:ln w="9525">
            <a:solidFill>
              <a:srgbClr val="374B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77240" y="3767328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0B981"/>
                </a:solidFill>
                <a:latin typeface="Calibri"/>
              </a:rPr>
              <a:t>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749040"/>
            <a:ext cx="676656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E5E7EB"/>
                </a:solidFill>
                <a:latin typeface="Calibri"/>
              </a:rPr>
              <a:t>Tie-break = preserve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4041648"/>
            <a:ext cx="67665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9CA3AF"/>
                </a:solidFill>
                <a:latin typeface="Calibri"/>
              </a:rPr>
              <a:t>Conservative: on ties, retain the source word. No silent substitutions.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389120"/>
            <a:ext cx="7315200" cy="640080"/>
          </a:xfrm>
          <a:prstGeom prst="roundRect">
            <a:avLst>
              <a:gd name="adj" fmla="val 10000"/>
            </a:avLst>
          </a:prstGeom>
          <a:solidFill>
            <a:srgbClr val="162A42"/>
          </a:solidFill>
          <a:ln w="9525">
            <a:solidFill>
              <a:srgbClr val="374B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77240" y="4498848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0B981"/>
                </a:solidFill>
                <a:latin typeface="Calibri"/>
              </a:rPr>
              <a:t>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4480560"/>
            <a:ext cx="676656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E5E7EB"/>
                </a:solidFill>
                <a:latin typeface="Calibri"/>
              </a:rPr>
              <a:t>For each OOV position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4773168"/>
            <a:ext cx="67665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9CA3AF"/>
                </a:solidFill>
                <a:latin typeface="Calibri"/>
              </a:rPr>
              <a:t>Replace the source word with the top-ranked BK-tree candidate.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120640"/>
            <a:ext cx="7315200" cy="640080"/>
          </a:xfrm>
          <a:prstGeom prst="roundRect">
            <a:avLst>
              <a:gd name="adj" fmla="val 10000"/>
            </a:avLst>
          </a:prstGeom>
          <a:solidFill>
            <a:srgbClr val="162A42"/>
          </a:solidFill>
          <a:ln w="9525">
            <a:solidFill>
              <a:srgbClr val="374B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77240" y="5230368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0B981"/>
                </a:solidFill>
                <a:latin typeface="Calibri"/>
              </a:rPr>
              <a:t>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" y="5212080"/>
            <a:ext cx="676656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E5E7EB"/>
                </a:solidFill>
                <a:latin typeface="Calibri"/>
              </a:rPr>
              <a:t>Output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3000" y="5504688"/>
            <a:ext cx="67665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9CA3AF"/>
                </a:solidFill>
                <a:latin typeface="Calibri"/>
              </a:rPr>
              <a:t>Corrected sentence + source + position-indexed diff.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29600" y="2194560"/>
            <a:ext cx="3383280" cy="4023360"/>
          </a:xfrm>
          <a:prstGeom prst="roundRect">
            <a:avLst>
              <a:gd name="adj" fmla="val 5000"/>
            </a:avLst>
          </a:prstGeom>
          <a:solidFill>
            <a:srgbClr val="162A42"/>
          </a:solidFill>
          <a:ln w="952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412480" y="2286000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0B981"/>
                </a:solidFill>
                <a:latin typeface="Calibri"/>
              </a:rPr>
              <a:t>VOTING EXAMPLE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12480" y="2606040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E5E7EB"/>
                </a:solidFill>
                <a:latin typeface="Calibri"/>
              </a:rPr>
              <a:t>Position 4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412480" y="3017520"/>
            <a:ext cx="1280160" cy="292608"/>
          </a:xfrm>
          <a:prstGeom prst="roundRect">
            <a:avLst>
              <a:gd name="adj" fmla="val 50000"/>
            </a:avLst>
          </a:prstGeom>
          <a:solidFill>
            <a:srgbClr val="4EC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6200" tIns="25400" rIns="76200" bIns="2540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Seamless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84080" y="2971800"/>
            <a:ext cx="182880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E5E7EB"/>
                </a:solidFill>
                <a:latin typeface="Calibri"/>
              </a:rPr>
              <a:t>کتاب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412480" y="3474720"/>
            <a:ext cx="1280160" cy="292608"/>
          </a:xfrm>
          <a:prstGeom prst="roundRect">
            <a:avLst>
              <a:gd name="adj" fmla="val 50000"/>
            </a:avLst>
          </a:prstGeom>
          <a:solidFill>
            <a:srgbClr val="4EC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6200" tIns="25400" rIns="76200" bIns="2540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Whisper-L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84080" y="3429000"/>
            <a:ext cx="182880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E5E7EB"/>
                </a:solidFill>
                <a:latin typeface="Calibri"/>
              </a:rPr>
              <a:t>کتاب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412480" y="3931920"/>
            <a:ext cx="1280160" cy="292608"/>
          </a:xfrm>
          <a:prstGeom prst="roundRect">
            <a:avLst>
              <a:gd name="adj" fmla="val 50000"/>
            </a:avLst>
          </a:prstGeom>
          <a:solidFill>
            <a:srgbClr val="FFD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6200" tIns="25400" rIns="76200" bIns="2540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Whisper-M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784080" y="3886200"/>
            <a:ext cx="182880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E5E7EB"/>
                </a:solidFill>
                <a:latin typeface="Calibri"/>
              </a:rPr>
              <a:t>ﮐﺗﺎب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412480" y="4389120"/>
            <a:ext cx="1280160" cy="292608"/>
          </a:xfrm>
          <a:prstGeom prst="roundRect">
            <a:avLst>
              <a:gd name="adj" fmla="val 50000"/>
            </a:avLst>
          </a:prstGeom>
          <a:solidFill>
            <a:srgbClr val="4EC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6200" tIns="25400" rIns="76200" bIns="2540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Wav2Vec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84080" y="4343400"/>
            <a:ext cx="182880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E5E7EB"/>
                </a:solidFill>
                <a:latin typeface="Calibri"/>
              </a:rPr>
              <a:t>کتاب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12480" y="5120640"/>
            <a:ext cx="3200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0B981"/>
                </a:solidFill>
                <a:latin typeface="Calibri"/>
              </a:rPr>
              <a:t>Winner:  کتاب  (4 / 4)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9CA3AF"/>
                </a:solidFill>
                <a:latin typeface="Calibri"/>
              </a:rPr>
              <a:t>CORAL  |  Consensus-Based Refinement and Output Realignment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9CA3AF"/>
                </a:solidFill>
                <a:latin typeface="Calibri"/>
              </a:rPr>
              <a:t>12 / 32</a:t>
            </a:r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10607040" y="5486400"/>
            <a:ext cx="2377440" cy="2377440"/>
          </a:xfrm>
          <a:prstGeom prst="ellipse">
            <a:avLst/>
          </a:prstGeom>
          <a:solidFill>
            <a:srgbClr val="FF6B6B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-914400" y="-914400"/>
            <a:ext cx="2194560" cy="2194560"/>
          </a:xfrm>
          <a:prstGeom prst="ellipse">
            <a:avLst/>
          </a:prstGeom>
          <a:solidFill>
            <a:srgbClr val="4ECDC4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6B6B"/>
                </a:solidFill>
                <a:latin typeface="Calibri"/>
              </a:rPr>
              <a:t>STAGE 4  •  LLM REFINEMENT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1097280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E5E7EB"/>
                </a:solidFill>
                <a:latin typeface="Calibri"/>
              </a:rPr>
              <a:t>Fluency, code-switching, named entities — handled last, in-browser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87829" y="1988523"/>
            <a:ext cx="1097280" cy="0"/>
          </a:xfrm>
          <a:prstGeom prst="line">
            <a:avLst/>
          </a:prstGeom>
          <a:ln w="50800">
            <a:solidFill>
              <a:srgbClr val="FF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40080" y="2103120"/>
            <a:ext cx="5669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8B5CF6"/>
                </a:solidFill>
                <a:latin typeface="Calibri"/>
              </a:rPr>
              <a:t>What the LLM handles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514600"/>
            <a:ext cx="566928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0" i="0">
                <a:solidFill>
                  <a:srgbClr val="E5E7EB"/>
                </a:solidFill>
                <a:latin typeface="Calibri"/>
              </a:rPr>
              <a:t>• Restore sentence-level fluency lost during voting</a:t>
            </a:r>
          </a:p>
          <a:p>
            <a:pPr algn="l">
              <a:lnSpc>
                <a:spcPct val="150000"/>
              </a:lnSpc>
            </a:pPr>
            <a:r>
              <a:rPr sz="1250" b="0" i="0">
                <a:solidFill>
                  <a:srgbClr val="E5E7EB"/>
                </a:solidFill>
                <a:latin typeface="Calibri"/>
              </a:rPr>
              <a:t>• Recover code-switched English tokens stripped by Stage 0</a:t>
            </a:r>
          </a:p>
          <a:p>
            <a:pPr algn="l">
              <a:lnSpc>
                <a:spcPct val="150000"/>
              </a:lnSpc>
            </a:pPr>
            <a:r>
              <a:rPr sz="1250" b="0" i="0">
                <a:solidFill>
                  <a:srgbClr val="E5E7EB"/>
                </a:solidFill>
                <a:latin typeface="Calibri"/>
              </a:rPr>
              <a:t>• Resolve grammar agreement that spans many words</a:t>
            </a:r>
          </a:p>
          <a:p>
            <a:pPr algn="l">
              <a:lnSpc>
                <a:spcPct val="150000"/>
              </a:lnSpc>
            </a:pPr>
            <a:r>
              <a:rPr sz="1250" b="0" i="0">
                <a:solidFill>
                  <a:srgbClr val="E5E7EB"/>
                </a:solidFill>
                <a:latin typeface="Calibri"/>
              </a:rPr>
              <a:t>• Disambiguate named entities &amp; proper nouns</a:t>
            </a:r>
          </a:p>
          <a:p>
            <a:pPr algn="l">
              <a:lnSpc>
                <a:spcPct val="150000"/>
              </a:lnSpc>
            </a:pPr>
            <a:r>
              <a:rPr sz="1250" b="0" i="0">
                <a:solidFill>
                  <a:srgbClr val="E5E7EB"/>
                </a:solidFill>
                <a:latin typeface="Calibri"/>
              </a:rPr>
              <a:t>• Operate under explicit authority limits — can NOT add new content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572000"/>
            <a:ext cx="5669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8B5CF6"/>
                </a:solidFill>
                <a:latin typeface="Calibri"/>
              </a:rPr>
              <a:t>Why client-side?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937760"/>
            <a:ext cx="566928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9CA3AF"/>
                </a:solidFill>
                <a:latin typeface="Calibri"/>
              </a:rPr>
              <a:t>• User-supplied API keys never leave the browser</a:t>
            </a:r>
          </a:p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9CA3AF"/>
                </a:solidFill>
                <a:latin typeface="Calibri"/>
              </a:rPr>
              <a:t>• No GPU cost on our backend</a:t>
            </a:r>
          </a:p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9CA3AF"/>
                </a:solidFill>
                <a:latin typeface="Calibri"/>
              </a:rPr>
              <a:t>• Easy provider switch — Gemini / OpenRouter / Claude / GPT-4o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75120" y="2103120"/>
            <a:ext cx="2468880" cy="1691640"/>
          </a:xfrm>
          <a:prstGeom prst="roundRect">
            <a:avLst>
              <a:gd name="adj" fmla="val 8000"/>
            </a:avLst>
          </a:prstGeom>
          <a:solidFill>
            <a:srgbClr val="162A42"/>
          </a:solidFill>
          <a:ln w="254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6858000" y="2286000"/>
            <a:ext cx="2103120" cy="320040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6200" tIns="25400" rIns="76200" bIns="2540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Google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2743200"/>
            <a:ext cx="21031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0" i="0">
                <a:solidFill>
                  <a:srgbClr val="E5E7EB"/>
                </a:solidFill>
                <a:latin typeface="Calibri"/>
              </a:rPr>
              <a:t>Gemini 1.5 Pro</a:t>
            </a:r>
          </a:p>
          <a:p>
            <a:pPr algn="ctr">
              <a:lnSpc>
                <a:spcPct val="130000"/>
              </a:lnSpc>
            </a:pPr>
            <a:r>
              <a:rPr sz="1150" b="0" i="0">
                <a:solidFill>
                  <a:srgbClr val="E5E7EB"/>
                </a:solidFill>
                <a:latin typeface="Calibri"/>
              </a:rPr>
              <a:t>Gemini 2.0 Flash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281160" y="2103120"/>
            <a:ext cx="2468880" cy="1691640"/>
          </a:xfrm>
          <a:prstGeom prst="roundRect">
            <a:avLst>
              <a:gd name="adj" fmla="val 8000"/>
            </a:avLst>
          </a:prstGeom>
          <a:solidFill>
            <a:srgbClr val="162A42"/>
          </a:solidFill>
          <a:ln w="254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9464040" y="2286000"/>
            <a:ext cx="2103120" cy="32004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6200" tIns="25400" rIns="76200" bIns="2540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Anthropic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64040" y="2743200"/>
            <a:ext cx="21031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0" i="0">
                <a:solidFill>
                  <a:srgbClr val="E5E7EB"/>
                </a:solidFill>
                <a:latin typeface="Calibri"/>
              </a:rPr>
              <a:t>Claude 3.5 Sonnet</a:t>
            </a:r>
          </a:p>
          <a:p>
            <a:pPr algn="ctr">
              <a:lnSpc>
                <a:spcPct val="130000"/>
              </a:lnSpc>
            </a:pPr>
            <a:r>
              <a:rPr sz="1150" b="0" i="0">
                <a:solidFill>
                  <a:srgbClr val="E5E7EB"/>
                </a:solidFill>
                <a:latin typeface="Calibri"/>
              </a:rPr>
              <a:t>Claude 3 Opus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0" y="3931920"/>
            <a:ext cx="2468880" cy="1691640"/>
          </a:xfrm>
          <a:prstGeom prst="roundRect">
            <a:avLst>
              <a:gd name="adj" fmla="val 8000"/>
            </a:avLst>
          </a:prstGeom>
          <a:solidFill>
            <a:srgbClr val="162A42"/>
          </a:solidFill>
          <a:ln w="2540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6858000" y="4114800"/>
            <a:ext cx="2103120" cy="320040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6200" tIns="25400" rIns="76200" bIns="2540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OpenAI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0" y="4572000"/>
            <a:ext cx="21031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0" i="0">
                <a:solidFill>
                  <a:srgbClr val="E5E7EB"/>
                </a:solidFill>
                <a:latin typeface="Calibri"/>
              </a:rPr>
              <a:t>GPT-4o</a:t>
            </a:r>
          </a:p>
          <a:p>
            <a:pPr algn="ctr">
              <a:lnSpc>
                <a:spcPct val="130000"/>
              </a:lnSpc>
            </a:pPr>
            <a:r>
              <a:rPr sz="1150" b="0" i="0">
                <a:solidFill>
                  <a:srgbClr val="E5E7EB"/>
                </a:solidFill>
                <a:latin typeface="Calibri"/>
              </a:rPr>
              <a:t>GPT-4o-mini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281160" y="3931920"/>
            <a:ext cx="2468880" cy="1691640"/>
          </a:xfrm>
          <a:prstGeom prst="roundRect">
            <a:avLst>
              <a:gd name="adj" fmla="val 8000"/>
            </a:avLst>
          </a:prstGeom>
          <a:solidFill>
            <a:srgbClr val="162A42"/>
          </a:solidFill>
          <a:ln w="25400">
            <a:solidFill>
              <a:srgbClr val="FF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9464040" y="4114800"/>
            <a:ext cx="2103120" cy="320040"/>
          </a:xfrm>
          <a:prstGeom prst="roundRect">
            <a:avLst>
              <a:gd name="adj" fmla="val 50000"/>
            </a:avLst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6200" tIns="25400" rIns="76200" bIns="2540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Meta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64040" y="4572000"/>
            <a:ext cx="21031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0" i="0">
                <a:solidFill>
                  <a:srgbClr val="E5E7EB"/>
                </a:solidFill>
                <a:latin typeface="Calibri"/>
              </a:rPr>
              <a:t>Llama 3.1 405B</a:t>
            </a:r>
          </a:p>
          <a:p>
            <a:pPr algn="ctr">
              <a:lnSpc>
                <a:spcPct val="130000"/>
              </a:lnSpc>
            </a:pPr>
            <a:r>
              <a:rPr sz="1150" b="0" i="0">
                <a:solidFill>
                  <a:srgbClr val="E5E7EB"/>
                </a:solidFill>
                <a:latin typeface="Calibri"/>
              </a:rPr>
              <a:t>via OpenRouter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75120" y="5486400"/>
            <a:ext cx="5074920" cy="777240"/>
          </a:xfrm>
          <a:prstGeom prst="roundRect">
            <a:avLst>
              <a:gd name="adj" fmla="val 8000"/>
            </a:avLst>
          </a:prstGeom>
          <a:solidFill>
            <a:srgbClr val="121A28"/>
          </a:solidFill>
          <a:ln w="9525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675120" y="5577840"/>
            <a:ext cx="507492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8B5CF6"/>
                </a:solidFill>
                <a:latin typeface="Consolas"/>
              </a:rPr>
              <a:t>PROMPT  =  voted transcript  +  align metadata  +  OOV candidates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9CA3AF"/>
                </a:solidFill>
                <a:latin typeface="Calibri"/>
              </a:rPr>
              <a:t>CORAL  |  Consensus-Based Refinement and Output Realignment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9CA3AF"/>
                </a:solidFill>
                <a:latin typeface="Calibri"/>
              </a:rPr>
              <a:t>13 / 32</a:t>
            </a:r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10607040" y="5486400"/>
            <a:ext cx="2377440" cy="2377440"/>
          </a:xfrm>
          <a:prstGeom prst="ellipse">
            <a:avLst/>
          </a:prstGeom>
          <a:solidFill>
            <a:srgbClr val="FF6B6B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-914400" y="-914400"/>
            <a:ext cx="2194560" cy="2194560"/>
          </a:xfrm>
          <a:prstGeom prst="ellipse">
            <a:avLst/>
          </a:prstGeom>
          <a:solidFill>
            <a:srgbClr val="4ECDC4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6B6B"/>
                </a:solidFill>
                <a:latin typeface="Calibri"/>
              </a:rPr>
              <a:t>SYSTEM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1097280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E5E7EB"/>
                </a:solidFill>
                <a:latin typeface="Calibri"/>
              </a:rPr>
              <a:t>Four tiers, one rendezvous registry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691640"/>
            <a:ext cx="1097280" cy="0"/>
          </a:xfrm>
          <a:prstGeom prst="line">
            <a:avLst/>
          </a:prstGeom>
          <a:ln w="50800">
            <a:solidFill>
              <a:srgbClr val="FF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" name="Picture 7" descr="report_fig_4_1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103120"/>
            <a:ext cx="7315200" cy="1988511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229600" y="2011680"/>
            <a:ext cx="3383280" cy="960120"/>
          </a:xfrm>
          <a:prstGeom prst="roundRect">
            <a:avLst>
              <a:gd name="adj" fmla="val 8000"/>
            </a:avLst>
          </a:prstGeom>
          <a:solidFill>
            <a:srgbClr val="162A42"/>
          </a:solidFill>
          <a:ln w="2540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8366760" y="214884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6200" tIns="25400" rIns="76200" bIns="2540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Inference Tier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66760" y="2468880"/>
            <a:ext cx="31089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E5E7EB"/>
                </a:solidFill>
                <a:latin typeface="Calibri"/>
              </a:rPr>
              <a:t>Kaggle GPU notebooks</a:t>
            </a:r>
          </a:p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E5E7EB"/>
                </a:solidFill>
                <a:latin typeface="Calibri"/>
              </a:rPr>
              <a:t>+ ngrok HTTPS tunnels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3063240"/>
            <a:ext cx="3383280" cy="960120"/>
          </a:xfrm>
          <a:prstGeom prst="roundRect">
            <a:avLst>
              <a:gd name="adj" fmla="val 8000"/>
            </a:avLst>
          </a:prstGeom>
          <a:solidFill>
            <a:srgbClr val="162A42"/>
          </a:solidFill>
          <a:ln w="254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8366760" y="320040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6200" tIns="25400" rIns="76200" bIns="2540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Backend Tier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3520440"/>
            <a:ext cx="31089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E5E7EB"/>
                </a:solidFill>
                <a:latin typeface="Calibri"/>
              </a:rPr>
              <a:t>FastAPI · /align /oov /correct</a:t>
            </a:r>
          </a:p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E5E7EB"/>
                </a:solidFill>
                <a:latin typeface="Calibri"/>
              </a:rPr>
              <a:t>+ Model registry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0" y="4114800"/>
            <a:ext cx="3383280" cy="960120"/>
          </a:xfrm>
          <a:prstGeom prst="roundRect">
            <a:avLst>
              <a:gd name="adj" fmla="val 8000"/>
            </a:avLst>
          </a:prstGeom>
          <a:solidFill>
            <a:srgbClr val="162A42"/>
          </a:solidFill>
          <a:ln w="25400">
            <a:solidFill>
              <a:srgbClr val="FFD9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8366760" y="425196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FFD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6200" tIns="25400" rIns="76200" bIns="2540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Frontend Tier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4572000"/>
            <a:ext cx="31089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E5E7EB"/>
                </a:solidFill>
                <a:latin typeface="Calibri"/>
              </a:rPr>
              <a:t>Next.js · React · 4-pass UI</a:t>
            </a:r>
          </a:p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E5E7EB"/>
                </a:solidFill>
                <a:latin typeface="Calibri"/>
              </a:rPr>
              <a:t>Client-side LLM call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0" y="5166360"/>
            <a:ext cx="3383280" cy="960120"/>
          </a:xfrm>
          <a:prstGeom prst="roundRect">
            <a:avLst>
              <a:gd name="adj" fmla="val 8000"/>
            </a:avLst>
          </a:prstGeom>
          <a:solidFill>
            <a:srgbClr val="162A42"/>
          </a:solidFill>
          <a:ln w="25400">
            <a:solidFill>
              <a:srgbClr val="4ECD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8366760" y="530352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4EC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6200" tIns="25400" rIns="76200" bIns="2540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Data Tier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5623560"/>
            <a:ext cx="31089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E5E7EB"/>
                </a:solidFill>
                <a:latin typeface="Calibri"/>
              </a:rPr>
              <a:t>HuggingFace Hub</a:t>
            </a:r>
          </a:p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E5E7EB"/>
                </a:solidFill>
                <a:latin typeface="Calibri"/>
              </a:rPr>
              <a:t>+ DuckDB n-gram tables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9CA3AF"/>
                </a:solidFill>
                <a:latin typeface="Calibri"/>
              </a:rPr>
              <a:t>CORAL  |  Consensus-Based Refinement and Output Realignment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9CA3AF"/>
                </a:solidFill>
                <a:latin typeface="Calibri"/>
              </a:rPr>
              <a:t>14 / 32</a:t>
            </a:r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10607040" y="5486400"/>
            <a:ext cx="2377440" cy="2377440"/>
          </a:xfrm>
          <a:prstGeom prst="ellipse">
            <a:avLst/>
          </a:prstGeom>
          <a:solidFill>
            <a:srgbClr val="FF6B6B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-914400" y="-914400"/>
            <a:ext cx="2194560" cy="2194560"/>
          </a:xfrm>
          <a:prstGeom prst="ellipse">
            <a:avLst/>
          </a:prstGeom>
          <a:solidFill>
            <a:srgbClr val="4ECDC4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6B6B"/>
                </a:solidFill>
                <a:latin typeface="Calibri"/>
              </a:rPr>
              <a:t>SYSTEM TOPOLOGY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1097280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E5E7EB"/>
                </a:solidFill>
                <a:latin typeface="Calibri"/>
              </a:rPr>
              <a:t>Self-registration · heartbeats · async fan-out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691640"/>
            <a:ext cx="1097280" cy="0"/>
          </a:xfrm>
          <a:prstGeom prst="line">
            <a:avLst/>
          </a:prstGeom>
          <a:ln w="50800">
            <a:solidFill>
              <a:srgbClr val="FF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" name="Picture 7" descr="report_fig_4_2_topo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057400"/>
            <a:ext cx="8229600" cy="2922615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961120" y="2103120"/>
            <a:ext cx="2743200" cy="960120"/>
          </a:xfrm>
          <a:prstGeom prst="roundRect">
            <a:avLst>
              <a:gd name="adj" fmla="val 8000"/>
            </a:avLst>
          </a:prstGeom>
          <a:solidFill>
            <a:srgbClr val="162A42"/>
          </a:solidFill>
          <a:ln w="1905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9098280" y="2212848"/>
            <a:ext cx="2468880" cy="274320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6200" tIns="25400" rIns="76200" bIns="2540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Self-registration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98280" y="2523744"/>
            <a:ext cx="24688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E5E7EB"/>
                </a:solidFill>
                <a:latin typeface="Calibri"/>
              </a:rPr>
              <a:t>Kaggle notebooks POST /registry/register on boot · ping every 60 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61120" y="3200400"/>
            <a:ext cx="2743200" cy="960120"/>
          </a:xfrm>
          <a:prstGeom prst="roundRect">
            <a:avLst>
              <a:gd name="adj" fmla="val 8000"/>
            </a:avLst>
          </a:prstGeom>
          <a:solidFill>
            <a:srgbClr val="162A42"/>
          </a:solidFill>
          <a:ln w="19050">
            <a:solidFill>
              <a:srgbClr val="4ECD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9098280" y="3310128"/>
            <a:ext cx="2468880" cy="274320"/>
          </a:xfrm>
          <a:prstGeom prst="roundRect">
            <a:avLst>
              <a:gd name="adj" fmla="val 50000"/>
            </a:avLst>
          </a:prstGeom>
          <a:solidFill>
            <a:srgbClr val="4EC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6200" tIns="25400" rIns="76200" bIns="2540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Fan-out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98280" y="3621024"/>
            <a:ext cx="24688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E5E7EB"/>
                </a:solidFill>
                <a:latin typeface="Calibri"/>
              </a:rPr>
              <a:t>POST /registry/transcribe dispatches audio to every live model in parallel · httpx.AsyncClient · 60 s timeout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20" y="4297680"/>
            <a:ext cx="2743200" cy="960120"/>
          </a:xfrm>
          <a:prstGeom prst="roundRect">
            <a:avLst>
              <a:gd name="adj" fmla="val 8000"/>
            </a:avLst>
          </a:prstGeom>
          <a:solidFill>
            <a:srgbClr val="162A42"/>
          </a:solidFill>
          <a:ln w="19050">
            <a:solidFill>
              <a:srgbClr val="FF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9098280" y="4407408"/>
            <a:ext cx="2468880" cy="274320"/>
          </a:xfrm>
          <a:prstGeom prst="roundRect">
            <a:avLst>
              <a:gd name="adj" fmla="val 50000"/>
            </a:avLst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6200" tIns="25400" rIns="76200" bIns="2540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Eviction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98280" y="4718304"/>
            <a:ext cx="24688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E5E7EB"/>
                </a:solidFill>
                <a:latin typeface="Calibri"/>
              </a:rPr>
              <a:t>Registry sweep every 20 s drops sessions silent for &gt;300 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61120" y="5394960"/>
            <a:ext cx="2743200" cy="960120"/>
          </a:xfrm>
          <a:prstGeom prst="roundRect">
            <a:avLst>
              <a:gd name="adj" fmla="val 8000"/>
            </a:avLst>
          </a:prstGeom>
          <a:solidFill>
            <a:srgbClr val="162A42"/>
          </a:solidFill>
          <a:ln w="1905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9098280" y="5504688"/>
            <a:ext cx="2468880" cy="274320"/>
          </a:xfrm>
          <a:prstGeom prst="roundRect">
            <a:avLst>
              <a:gd name="adj" fmla="val 50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6200" tIns="25400" rIns="76200" bIns="2540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Auth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98280" y="5815584"/>
            <a:ext cx="24688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E5E7EB"/>
                </a:solidFill>
                <a:latin typeface="Calibri"/>
              </a:rPr>
              <a:t>X-Registry-Token for register/ping · X-API-Token on transcribe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172200"/>
            <a:ext cx="11155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1">
                <a:solidFill>
                  <a:srgbClr val="9CA3AF"/>
                </a:solidFill>
                <a:latin typeface="Calibri"/>
              </a:rPr>
              <a:t>Each ASR model runs on its own Kaggle GPU notebook behind a private ngrok HTTPS tunnel; the backend registry is the rendezvous point.  The browser talks only to the backend (and, for Stage 4, directly to the LLM provider).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9CA3AF"/>
                </a:solidFill>
                <a:latin typeface="Calibri"/>
              </a:rPr>
              <a:t>CORAL  |  Consensus-Based Refinement and Output Realignment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9CA3AF"/>
                </a:solidFill>
                <a:latin typeface="Calibri"/>
              </a:rPr>
              <a:t>15 / 32</a:t>
            </a:r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10607040" y="5486400"/>
            <a:ext cx="2377440" cy="2377440"/>
          </a:xfrm>
          <a:prstGeom prst="ellipse">
            <a:avLst/>
          </a:prstGeom>
          <a:solidFill>
            <a:srgbClr val="FF6B6B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-914400" y="-914400"/>
            <a:ext cx="2194560" cy="2194560"/>
          </a:xfrm>
          <a:prstGeom prst="ellipse">
            <a:avLst/>
          </a:prstGeom>
          <a:solidFill>
            <a:srgbClr val="4ECDC4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6B6B"/>
                </a:solidFill>
                <a:latin typeface="Calibri"/>
              </a:rPr>
              <a:t>TECHNOLOGY STACK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1097280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E5E7EB"/>
                </a:solidFill>
                <a:latin typeface="Calibri"/>
              </a:rPr>
              <a:t>Modern, lean, production-ready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691640"/>
            <a:ext cx="1097280" cy="0"/>
          </a:xfrm>
          <a:prstGeom prst="line">
            <a:avLst/>
          </a:prstGeom>
          <a:ln w="50800">
            <a:solidFill>
              <a:srgbClr val="FF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7200" y="2103120"/>
            <a:ext cx="2788920" cy="4297680"/>
          </a:xfrm>
          <a:prstGeom prst="roundRect">
            <a:avLst>
              <a:gd name="adj" fmla="val 7000"/>
            </a:avLst>
          </a:prstGeom>
          <a:solidFill>
            <a:srgbClr val="162A42"/>
          </a:solidFill>
          <a:ln w="254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40080" y="2240280"/>
            <a:ext cx="2423160" cy="365760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6200" tIns="25400" rIns="76200" bIns="2540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Backend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697480"/>
            <a:ext cx="2331720" cy="3383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E5E7EB"/>
                </a:solidFill>
                <a:latin typeface="Calibri"/>
              </a:rPr>
              <a:t>•  FastAPI 0.109 · uvicorn 0.23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E5E7EB"/>
                </a:solidFill>
                <a:latin typeface="Calibri"/>
              </a:rPr>
              <a:t>•  rapidfuzz 3.6 (Levenshtein)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E5E7EB"/>
                </a:solidFill>
                <a:latin typeface="Calibri"/>
              </a:rPr>
              <a:t>•  joblib 1.3 (BK-tree)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E5E7EB"/>
                </a:solidFill>
                <a:latin typeface="Calibri"/>
              </a:rPr>
              <a:t>•  duckdb 0.10 + pyarrow 14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E5E7EB"/>
                </a:solidFill>
                <a:latin typeface="Calibri"/>
              </a:rPr>
              <a:t>•  huggingface_hub 0.20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E5E7EB"/>
                </a:solidFill>
                <a:latin typeface="Calibri"/>
              </a:rPr>
              <a:t>•  httpx 0.26 (async)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E5E7EB"/>
                </a:solidFill>
                <a:latin typeface="Calibri"/>
              </a:rPr>
              <a:t>•  HuggingFace Spaces deploy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E5E7EB"/>
                </a:solidFill>
                <a:latin typeface="Calibri"/>
              </a:rPr>
              <a:t>•  Docker (port 7860)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83280" y="2103120"/>
            <a:ext cx="2788920" cy="4297680"/>
          </a:xfrm>
          <a:prstGeom prst="roundRect">
            <a:avLst>
              <a:gd name="adj" fmla="val 7000"/>
            </a:avLst>
          </a:prstGeom>
          <a:solidFill>
            <a:srgbClr val="162A42"/>
          </a:solidFill>
          <a:ln w="25400">
            <a:solidFill>
              <a:srgbClr val="FFD9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3566160" y="2240280"/>
            <a:ext cx="2423160" cy="365760"/>
          </a:xfrm>
          <a:prstGeom prst="roundRect">
            <a:avLst>
              <a:gd name="adj" fmla="val 50000"/>
            </a:avLst>
          </a:prstGeom>
          <a:solidFill>
            <a:srgbClr val="FFD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6200" tIns="25400" rIns="76200" bIns="2540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Frontend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11880" y="2697480"/>
            <a:ext cx="2331720" cy="3383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E5E7EB"/>
                </a:solidFill>
                <a:latin typeface="Calibri"/>
              </a:rPr>
              <a:t>•  Next.js 16 · App Router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E5E7EB"/>
                </a:solidFill>
                <a:latin typeface="Calibri"/>
              </a:rPr>
              <a:t>•  React 19 · TypeScript 5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E5E7EB"/>
                </a:solidFill>
                <a:latin typeface="Calibri"/>
              </a:rPr>
              <a:t>•  TailwindCSS v4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E5E7EB"/>
                </a:solidFill>
                <a:latin typeface="Calibri"/>
              </a:rPr>
              <a:t>•  Multi-page R&amp;D site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E5E7EB"/>
                </a:solidFill>
                <a:latin typeface="Calibri"/>
              </a:rPr>
              <a:t>•  Dark cinematic theme · aurora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E5E7EB"/>
                </a:solidFill>
                <a:latin typeface="Calibri"/>
              </a:rPr>
              <a:t>•  Animated waveform · particles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E5E7EB"/>
                </a:solidFill>
                <a:latin typeface="Calibri"/>
              </a:rPr>
              <a:t>•  MediaRecorder API · localStorage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E5E7EB"/>
                </a:solidFill>
                <a:latin typeface="Calibri"/>
              </a:rPr>
              <a:t>•  GPT-OSS chat endpoint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2103120"/>
            <a:ext cx="2788920" cy="4297680"/>
          </a:xfrm>
          <a:prstGeom prst="roundRect">
            <a:avLst>
              <a:gd name="adj" fmla="val 7000"/>
            </a:avLst>
          </a:prstGeom>
          <a:solidFill>
            <a:srgbClr val="162A42"/>
          </a:solidFill>
          <a:ln w="2540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6492240" y="2240280"/>
            <a:ext cx="2423160" cy="365760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6200" tIns="25400" rIns="76200" bIns="2540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Inference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2697480"/>
            <a:ext cx="2331720" cy="3383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E5E7EB"/>
                </a:solidFill>
                <a:latin typeface="Calibri"/>
              </a:rPr>
              <a:t>•  transformers (HF) · torch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E5E7EB"/>
                </a:solidFill>
                <a:latin typeface="Calibri"/>
              </a:rPr>
              <a:t>•  librosa · soundfile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E5E7EB"/>
                </a:solidFill>
                <a:latin typeface="Calibri"/>
              </a:rPr>
              <a:t>•  Kaggle GPU notebooks (T4)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E5E7EB"/>
                </a:solidFill>
                <a:latin typeface="Calibri"/>
              </a:rPr>
              <a:t>•  ngrok HTTPS tunnels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E5E7EB"/>
                </a:solidFill>
                <a:latin typeface="Calibri"/>
              </a:rPr>
              <a:t>•  Whisper-Large-v3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E5E7EB"/>
                </a:solidFill>
                <a:latin typeface="Calibri"/>
              </a:rPr>
              <a:t>•  SeamlessM4T-v2-Large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E5E7EB"/>
                </a:solidFill>
                <a:latin typeface="Calibri"/>
              </a:rPr>
              <a:t>•  Wav2Vec2-Urdu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E5E7EB"/>
                </a:solidFill>
                <a:latin typeface="Calibri"/>
              </a:rPr>
              <a:t>•  Model registry auto-register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235440" y="2103120"/>
            <a:ext cx="2788920" cy="4297680"/>
          </a:xfrm>
          <a:prstGeom prst="roundRect">
            <a:avLst>
              <a:gd name="adj" fmla="val 7000"/>
            </a:avLst>
          </a:prstGeom>
          <a:solidFill>
            <a:srgbClr val="162A42"/>
          </a:solidFill>
          <a:ln w="254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9418320" y="2240280"/>
            <a:ext cx="2423160" cy="365760"/>
          </a:xfrm>
          <a:prstGeom prst="roundRect">
            <a:avLst>
              <a:gd name="adj" fmla="val 50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6200" tIns="25400" rIns="76200" bIns="2540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Evaluation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64040" y="2697480"/>
            <a:ext cx="2331720" cy="3383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E5E7EB"/>
                </a:solidFill>
                <a:latin typeface="Calibri"/>
              </a:rPr>
              <a:t>•  jiwer (WER/CER)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E5E7EB"/>
                </a:solidFill>
                <a:latin typeface="Calibri"/>
              </a:rPr>
              <a:t>•  Common Voice Urdu (2,995)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E5E7EB"/>
                </a:solidFill>
                <a:latin typeface="Calibri"/>
              </a:rPr>
              <a:t>•  Conversational Urdu (500)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E5E7EB"/>
                </a:solidFill>
                <a:latin typeface="Calibri"/>
              </a:rPr>
              <a:t>•  8-step ablation (C0→C7)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E5E7EB"/>
                </a:solidFill>
                <a:latin typeface="Calibri"/>
              </a:rPr>
              <a:t>•  Residual error annotation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E5E7EB"/>
                </a:solidFill>
                <a:latin typeface="Calibri"/>
              </a:rPr>
              <a:t>•  matplotlib + seaborn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E5E7EB"/>
                </a:solidFill>
                <a:latin typeface="Calibri"/>
              </a:rPr>
              <a:t>•  LaTeX + TikZ (this report)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E5E7EB"/>
                </a:solidFill>
                <a:latin typeface="Calibri"/>
              </a:rPr>
              <a:t>•  Reproducible eval TSV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9CA3AF"/>
                </a:solidFill>
                <a:latin typeface="Calibri"/>
              </a:rPr>
              <a:t>CORAL  |  Consensus-Based Refinement and Output Realignment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9CA3AF"/>
                </a:solidFill>
                <a:latin typeface="Calibri"/>
              </a:rPr>
              <a:t>16 / 32</a:t>
            </a:r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5938"/>
            <a:ext cx="12191695" cy="6858000"/>
          </a:xfrm>
          <a:prstGeom prst="rect">
            <a:avLst/>
          </a:prstGeom>
          <a:solidFill>
            <a:srgbClr val="0B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10607040" y="5486400"/>
            <a:ext cx="2377440" cy="2377440"/>
          </a:xfrm>
          <a:prstGeom prst="ellipse">
            <a:avLst/>
          </a:prstGeom>
          <a:solidFill>
            <a:srgbClr val="FF6B6B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-914400" y="-914400"/>
            <a:ext cx="2194560" cy="2194560"/>
          </a:xfrm>
          <a:prstGeom prst="ellipse">
            <a:avLst/>
          </a:prstGeom>
          <a:solidFill>
            <a:srgbClr val="4ECDC4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6B6B"/>
                </a:solidFill>
                <a:latin typeface="Calibri"/>
              </a:rPr>
              <a:t>EVALUATION SETUP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1097280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E5E7EB"/>
                </a:solidFill>
                <a:latin typeface="Calibri"/>
              </a:rPr>
              <a:t>Two benchmarks, four configurations, every component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691640"/>
            <a:ext cx="1097280" cy="0"/>
          </a:xfrm>
          <a:prstGeom prst="line">
            <a:avLst/>
          </a:prstGeom>
          <a:ln w="50800">
            <a:solidFill>
              <a:srgbClr val="FF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40080" y="2103120"/>
            <a:ext cx="5486400" cy="1554480"/>
          </a:xfrm>
          <a:prstGeom prst="roundRect">
            <a:avLst>
              <a:gd name="adj" fmla="val 6000"/>
            </a:avLst>
          </a:prstGeom>
          <a:solidFill>
            <a:srgbClr val="162A42"/>
          </a:solidFill>
          <a:ln w="25400">
            <a:solidFill>
              <a:srgbClr val="4ECD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14400" y="2240280"/>
            <a:ext cx="49377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E5E7EB"/>
                </a:solidFill>
                <a:latin typeface="Calibri"/>
              </a:rPr>
              <a:t>Common Voice Urdu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651760"/>
            <a:ext cx="4937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 dirty="0">
                <a:solidFill>
                  <a:srgbClr val="4ECDC4"/>
                </a:solidFill>
                <a:latin typeface="Calibri"/>
              </a:rPr>
              <a:t>2,995 read-speech utterances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017520"/>
            <a:ext cx="49377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9CA3AF"/>
                </a:solidFill>
                <a:latin typeface="Calibri"/>
              </a:rPr>
              <a:t>Public, Mozilla-curated, read passages.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02336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4ECDC4"/>
                </a:solidFill>
                <a:latin typeface="Calibri"/>
              </a:rPr>
              <a:t>Pipeline configurations evaluated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480560"/>
            <a:ext cx="2697480" cy="1737360"/>
          </a:xfrm>
          <a:prstGeom prst="roundRect">
            <a:avLst>
              <a:gd name="adj" fmla="val 7000"/>
            </a:avLst>
          </a:prstGeom>
          <a:solidFill>
            <a:srgbClr val="162A42"/>
          </a:solidFill>
          <a:ln w="1905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822960" y="4617720"/>
            <a:ext cx="2331720" cy="320040"/>
          </a:xfrm>
          <a:prstGeom prst="roundRect">
            <a:avLst>
              <a:gd name="adj" fmla="val 50000"/>
            </a:avLst>
          </a:prstGeom>
          <a:solidFill>
            <a:srgbClr val="9C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6200" tIns="25400" rIns="76200" bIns="25400" rtlCol="0" anchor="ctr"/>
          <a:lstStyle/>
          <a:p>
            <a:pPr algn="ctr"/>
            <a:r>
              <a:rPr sz="1100" b="1" dirty="0">
                <a:solidFill>
                  <a:srgbClr val="FFFFFF"/>
                </a:solidFill>
                <a:latin typeface="Calibri"/>
              </a:rPr>
              <a:t>untouched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029200"/>
            <a:ext cx="233172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E5E7EB"/>
                </a:solidFill>
                <a:latin typeface="Calibri"/>
              </a:rPr>
              <a:t>Raw ASR output, no post-processing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29000" y="4480560"/>
            <a:ext cx="2697480" cy="1737360"/>
          </a:xfrm>
          <a:prstGeom prst="roundRect">
            <a:avLst>
              <a:gd name="adj" fmla="val 7000"/>
            </a:avLst>
          </a:prstGeom>
          <a:solidFill>
            <a:srgbClr val="162A42"/>
          </a:solidFill>
          <a:ln w="19050">
            <a:solidFill>
              <a:srgbClr val="FFD9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3611880" y="4617720"/>
            <a:ext cx="2331720" cy="320040"/>
          </a:xfrm>
          <a:prstGeom prst="roundRect">
            <a:avLst>
              <a:gd name="adj" fmla="val 50000"/>
            </a:avLst>
          </a:prstGeom>
          <a:solidFill>
            <a:srgbClr val="FFD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6200" tIns="25400" rIns="76200" bIns="2540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norm_baseline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11880" y="5029200"/>
            <a:ext cx="233172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E5E7EB"/>
                </a:solidFill>
                <a:latin typeface="Calibri"/>
              </a:rPr>
              <a:t>Stage 0 normalisation only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4480560"/>
            <a:ext cx="2697480" cy="1737360"/>
          </a:xfrm>
          <a:prstGeom prst="roundRect">
            <a:avLst>
              <a:gd name="adj" fmla="val 7000"/>
            </a:avLst>
          </a:prstGeom>
          <a:solidFill>
            <a:srgbClr val="162A42"/>
          </a:solidFill>
          <a:ln w="19050">
            <a:solidFill>
              <a:srgbClr val="FF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6400800" y="4617720"/>
            <a:ext cx="2331720" cy="320040"/>
          </a:xfrm>
          <a:prstGeom prst="roundRect">
            <a:avLst>
              <a:gd name="adj" fmla="val 50000"/>
            </a:avLst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6200" tIns="25400" rIns="76200" bIns="25400" rtlCol="0" anchor="ctr"/>
          <a:lstStyle/>
          <a:p>
            <a:pPr algn="ctr"/>
            <a:r>
              <a:rPr lang="en-US" sz="1100" b="1" dirty="0">
                <a:solidFill>
                  <a:srgbClr val="FFFFFF"/>
                </a:solidFill>
                <a:latin typeface="Calibri"/>
              </a:rPr>
              <a:t>alignment</a:t>
            </a:r>
            <a:endParaRPr sz="11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6400800" y="5029200"/>
            <a:ext cx="233172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E5E7EB"/>
                </a:solidFill>
                <a:latin typeface="Calibri"/>
              </a:rPr>
              <a:t>Stages 0–3 (normalise + align + OOV + vote)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9CA3AF"/>
                </a:solidFill>
                <a:latin typeface="Calibri"/>
              </a:rPr>
              <a:t>CORAL  |  Consensus-Based Refinement and Output Realignment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9CA3AF"/>
                </a:solidFill>
                <a:latin typeface="Calibri"/>
              </a:rPr>
              <a:t>17 / 32</a:t>
            </a:r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10607040" y="5486400"/>
            <a:ext cx="2377440" cy="2377440"/>
          </a:xfrm>
          <a:prstGeom prst="ellipse">
            <a:avLst/>
          </a:prstGeom>
          <a:solidFill>
            <a:srgbClr val="FF6B6B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-914400" y="-914400"/>
            <a:ext cx="2194560" cy="2194560"/>
          </a:xfrm>
          <a:prstGeom prst="ellipse">
            <a:avLst/>
          </a:prstGeom>
          <a:solidFill>
            <a:srgbClr val="4ECDC4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6B6B"/>
                </a:solidFill>
                <a:latin typeface="Calibri"/>
              </a:rPr>
              <a:t>RELATIVE WER REDUCTION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10972800" cy="5663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lang="en-US" sz="3400" b="1" dirty="0">
                <a:solidFill>
                  <a:srgbClr val="E5E7EB"/>
                </a:solidFill>
                <a:latin typeface="Calibri"/>
              </a:rPr>
              <a:t>Per Model WER after Normalization</a:t>
            </a:r>
            <a:r>
              <a:rPr lang="en-US" sz="3400" b="1" i="0" dirty="0">
                <a:solidFill>
                  <a:srgbClr val="E5E7EB"/>
                </a:solidFill>
                <a:latin typeface="Calibri"/>
              </a:rPr>
              <a:t>?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691640"/>
            <a:ext cx="1097280" cy="0"/>
          </a:xfrm>
          <a:prstGeom prst="line">
            <a:avLst/>
          </a:prstGeom>
          <a:ln w="50800">
            <a:solidFill>
              <a:srgbClr val="FF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" name="Picture 7" descr="eval_relative_wer_d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011680"/>
            <a:ext cx="7772400" cy="452576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595360" y="2194560"/>
            <a:ext cx="3108960" cy="822960"/>
          </a:xfrm>
          <a:prstGeom prst="roundRect">
            <a:avLst>
              <a:gd name="adj" fmla="val 8000"/>
            </a:avLst>
          </a:prstGeom>
          <a:solidFill>
            <a:srgbClr val="162A42"/>
          </a:solidFill>
          <a:ln w="9525">
            <a:solidFill>
              <a:srgbClr val="FFD9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778240" y="2286000"/>
            <a:ext cx="128016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FFD93D"/>
                </a:solidFill>
                <a:latin typeface="Calibri"/>
              </a:rPr>
              <a:t>29.4%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0" y="2286000"/>
            <a:ext cx="164592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E5E7EB"/>
                </a:solidFill>
                <a:latin typeface="Calibri"/>
              </a:rPr>
              <a:t>Whisper-Large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95360" y="3108960"/>
            <a:ext cx="3108960" cy="822960"/>
          </a:xfrm>
          <a:prstGeom prst="roundRect">
            <a:avLst>
              <a:gd name="adj" fmla="val 8000"/>
            </a:avLst>
          </a:prstGeom>
          <a:solidFill>
            <a:srgbClr val="162A42"/>
          </a:solidFill>
          <a:ln w="9525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778240" y="3200400"/>
            <a:ext cx="128016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8B5CF6"/>
                </a:solidFill>
                <a:latin typeface="Calibri"/>
              </a:rPr>
              <a:t>25.9%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0" y="3200400"/>
            <a:ext cx="164592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E5E7EB"/>
                </a:solidFill>
                <a:latin typeface="Calibri"/>
              </a:rPr>
              <a:t>Wav2Vec2-Urdu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95360" y="4023360"/>
            <a:ext cx="3108960" cy="822960"/>
          </a:xfrm>
          <a:prstGeom prst="roundRect">
            <a:avLst>
              <a:gd name="adj" fmla="val 8000"/>
            </a:avLst>
          </a:prstGeom>
          <a:solidFill>
            <a:srgbClr val="162A42"/>
          </a:solidFill>
          <a:ln w="9525">
            <a:solidFill>
              <a:srgbClr val="4ECD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778240" y="4114800"/>
            <a:ext cx="128016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4ECDC4"/>
                </a:solidFill>
                <a:latin typeface="Calibri"/>
              </a:rPr>
              <a:t>24.2%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66960" y="4114800"/>
            <a:ext cx="164592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E5E7EB"/>
                </a:solidFill>
                <a:latin typeface="Calibri"/>
              </a:rPr>
              <a:t>Whisper-Med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95360" y="4937760"/>
            <a:ext cx="3108960" cy="822960"/>
          </a:xfrm>
          <a:prstGeom prst="roundRect">
            <a:avLst>
              <a:gd name="adj" fmla="val 8000"/>
            </a:avLst>
          </a:prstGeom>
          <a:solidFill>
            <a:srgbClr val="162A42"/>
          </a:solidFill>
          <a:ln w="9525">
            <a:solidFill>
              <a:srgbClr val="FF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778240" y="5029200"/>
            <a:ext cx="128016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FF6B6B"/>
                </a:solidFill>
                <a:latin typeface="Calibri"/>
              </a:rPr>
              <a:t>22.3%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66960" y="5029200"/>
            <a:ext cx="164592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E5E7EB"/>
                </a:solidFill>
                <a:latin typeface="Calibri"/>
              </a:rPr>
              <a:t>Seamless-L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95360" y="5852160"/>
            <a:ext cx="310896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1">
                <a:solidFill>
                  <a:srgbClr val="9CA3AF"/>
                </a:solidFill>
                <a:latin typeface="Calibri"/>
              </a:rPr>
              <a:t>The weaker the underlying ASR, the more headroom CORAL captures —</a:t>
            </a:r>
          </a:p>
          <a:p>
            <a:pPr algn="l">
              <a:lnSpc>
                <a:spcPct val="140000"/>
              </a:lnSpc>
            </a:pPr>
            <a:r>
              <a:rPr sz="1100" b="0" i="1">
                <a:solidFill>
                  <a:srgbClr val="9CA3AF"/>
                </a:solidFill>
                <a:latin typeface="Calibri"/>
              </a:rPr>
              <a:t>but even Seamless-Large (state-of-the-art) gains 4 absolute WER points.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9CA3AF"/>
                </a:solidFill>
                <a:latin typeface="Calibri"/>
              </a:rPr>
              <a:t>CORAL  |  Consensus-Based Refinement and Output Realignment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9CA3AF"/>
                </a:solidFill>
                <a:latin typeface="Calibri"/>
              </a:rPr>
              <a:t>20 / 32</a:t>
            </a:r>
          </a:p>
        </p:txBody>
      </p:sp>
    </p:spTree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10607040" y="5486400"/>
            <a:ext cx="2377440" cy="2377440"/>
          </a:xfrm>
          <a:prstGeom prst="ellipse">
            <a:avLst/>
          </a:prstGeom>
          <a:solidFill>
            <a:srgbClr val="FF6B6B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-914400" y="-914400"/>
            <a:ext cx="2194560" cy="2194560"/>
          </a:xfrm>
          <a:prstGeom prst="ellipse">
            <a:avLst/>
          </a:prstGeom>
          <a:solidFill>
            <a:srgbClr val="4ECDC4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6B6B"/>
                </a:solidFill>
                <a:latin typeface="Calibri"/>
              </a:rPr>
              <a:t>ABLATION · CONVERSATIONAL URDU (500 CLIPS)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1097280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E5E7EB"/>
                </a:solidFill>
                <a:latin typeface="Calibri"/>
              </a:rPr>
              <a:t>C0 → C7  ·  every stage adds independent value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691640"/>
            <a:ext cx="1097280" cy="0"/>
          </a:xfrm>
          <a:prstGeom prst="line">
            <a:avLst/>
          </a:prstGeom>
          <a:ln w="50800">
            <a:solidFill>
              <a:srgbClr val="FF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" name="Picture 7" descr="fyp2_ablation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920240"/>
            <a:ext cx="7498079" cy="348137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412480" y="2011680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4ECDC4"/>
                </a:solidFill>
                <a:latin typeface="Calibri"/>
              </a:rPr>
              <a:t>Per-stage WER contribution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0" y="2468880"/>
            <a:ext cx="3291840" cy="594360"/>
          </a:xfrm>
          <a:prstGeom prst="roundRect">
            <a:avLst>
              <a:gd name="adj" fmla="val 10000"/>
            </a:avLst>
          </a:prstGeom>
          <a:solidFill>
            <a:srgbClr val="162A42"/>
          </a:solidFill>
          <a:ln w="9525">
            <a:solidFill>
              <a:srgbClr val="FF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595360" y="2578608"/>
            <a:ext cx="22860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E5E7EB"/>
                </a:solidFill>
                <a:latin typeface="Calibri"/>
              </a:rPr>
              <a:t>Stage 0 normalise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2578608"/>
            <a:ext cx="9144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i="0">
                <a:solidFill>
                  <a:srgbClr val="FF6B6B"/>
                </a:solidFill>
                <a:latin typeface="Calibri"/>
              </a:rPr>
              <a:t>-1.9 pts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12480" y="3127248"/>
            <a:ext cx="3291840" cy="594360"/>
          </a:xfrm>
          <a:prstGeom prst="roundRect">
            <a:avLst>
              <a:gd name="adj" fmla="val 10000"/>
            </a:avLst>
          </a:prstGeom>
          <a:solidFill>
            <a:srgbClr val="162A42"/>
          </a:solidFill>
          <a:ln w="9525">
            <a:solidFill>
              <a:srgbClr val="4ECD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595360" y="3236976"/>
            <a:ext cx="22860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E5E7EB"/>
                </a:solidFill>
                <a:latin typeface="Calibri"/>
              </a:rPr>
              <a:t>Stage 1 alignment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0" y="3236976"/>
            <a:ext cx="9144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i="0">
                <a:solidFill>
                  <a:srgbClr val="4ECDC4"/>
                </a:solidFill>
                <a:latin typeface="Calibri"/>
              </a:rPr>
              <a:t>-1.1 pts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12480" y="3785616"/>
            <a:ext cx="3291840" cy="594360"/>
          </a:xfrm>
          <a:prstGeom prst="roundRect">
            <a:avLst>
              <a:gd name="adj" fmla="val 10000"/>
            </a:avLst>
          </a:prstGeom>
          <a:solidFill>
            <a:srgbClr val="162A42"/>
          </a:solidFill>
          <a:ln w="9525">
            <a:solidFill>
              <a:srgbClr val="FFD9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595360" y="3895344"/>
            <a:ext cx="22860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E5E7EB"/>
                </a:solidFill>
                <a:latin typeface="Calibri"/>
              </a:rPr>
              <a:t>Stage 2 OOV+BK-tree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0" y="3895344"/>
            <a:ext cx="9144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i="0">
                <a:solidFill>
                  <a:srgbClr val="FFD93D"/>
                </a:solidFill>
                <a:latin typeface="Calibri"/>
              </a:rPr>
              <a:t>-1.2 pts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12480" y="4443984"/>
            <a:ext cx="3291840" cy="594360"/>
          </a:xfrm>
          <a:prstGeom prst="roundRect">
            <a:avLst>
              <a:gd name="adj" fmla="val 10000"/>
            </a:avLst>
          </a:prstGeom>
          <a:solidFill>
            <a:srgbClr val="162A42"/>
          </a:solidFill>
          <a:ln w="952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595360" y="4553712"/>
            <a:ext cx="22860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E5E7EB"/>
                </a:solidFill>
                <a:latin typeface="Calibri"/>
              </a:rPr>
              <a:t>Stage 3 voting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0" y="4553712"/>
            <a:ext cx="9144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i="0">
                <a:solidFill>
                  <a:srgbClr val="10B981"/>
                </a:solidFill>
                <a:latin typeface="Calibri"/>
              </a:rPr>
              <a:t>-1.5 pts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412480" y="5102352"/>
            <a:ext cx="3291840" cy="594360"/>
          </a:xfrm>
          <a:prstGeom prst="roundRect">
            <a:avLst>
              <a:gd name="adj" fmla="val 10000"/>
            </a:avLst>
          </a:prstGeom>
          <a:solidFill>
            <a:srgbClr val="162A42"/>
          </a:solidFill>
          <a:ln w="9525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595360" y="5212080"/>
            <a:ext cx="22860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E5E7EB"/>
                </a:solidFill>
                <a:latin typeface="Calibri"/>
              </a:rPr>
              <a:t>Stage 4 LLM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98480" y="5212080"/>
            <a:ext cx="9144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i="0">
                <a:solidFill>
                  <a:srgbClr val="8B5CF6"/>
                </a:solidFill>
                <a:latin typeface="Calibri"/>
              </a:rPr>
              <a:t>-2.5 pts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412480" y="5760720"/>
            <a:ext cx="3291840" cy="594360"/>
          </a:xfrm>
          <a:prstGeom prst="roundRect">
            <a:avLst>
              <a:gd name="adj" fmla="val 10000"/>
            </a:avLst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595360" y="5806440"/>
            <a:ext cx="310896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Total  ·  19.8% → 10.6% WER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9CA3AF"/>
                </a:solidFill>
                <a:latin typeface="Calibri"/>
              </a:rPr>
              <a:t>CORAL  |  Consensus-Based Refinement and Output Realignment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9CA3AF"/>
                </a:solidFill>
                <a:latin typeface="Calibri"/>
              </a:rPr>
              <a:t>21 / 32</a:t>
            </a:r>
          </a:p>
        </p:txBody>
      </p:sp>
    </p:spTree>
  </p:cSld>
  <p:clrMapOvr>
    <a:masterClrMapping/>
  </p:clrMapOvr>
  <p:transition spd="med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10607040" y="5486400"/>
            <a:ext cx="2377440" cy="2377440"/>
          </a:xfrm>
          <a:prstGeom prst="ellipse">
            <a:avLst/>
          </a:prstGeom>
          <a:solidFill>
            <a:srgbClr val="FF6B6B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-914400" y="-914400"/>
            <a:ext cx="2194560" cy="2194560"/>
          </a:xfrm>
          <a:prstGeom prst="ellipse">
            <a:avLst/>
          </a:prstGeom>
          <a:solidFill>
            <a:srgbClr val="4ECDC4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6B6B"/>
                </a:solidFill>
                <a:latin typeface="Calibri"/>
              </a:rPr>
              <a:t>THE SPLIT/MERGE PHENOMENON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1097280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E5E7EB"/>
                </a:solidFill>
                <a:latin typeface="Calibri"/>
              </a:rPr>
              <a:t>36.5% of inter-model events are word-boundary disagreement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899458"/>
            <a:ext cx="1097280" cy="0"/>
          </a:xfrm>
          <a:prstGeom prst="line">
            <a:avLst/>
          </a:prstGeom>
          <a:ln w="50800">
            <a:solidFill>
              <a:srgbClr val="FF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" name="Picture 7" descr="splitmerge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011680"/>
            <a:ext cx="6858000" cy="574806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0" y="2011680"/>
            <a:ext cx="3931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4ECDC4"/>
                </a:solidFill>
                <a:latin typeface="Calibri"/>
              </a:rPr>
              <a:t>What this chart shows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2423160"/>
            <a:ext cx="393192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E5E7EB"/>
                </a:solidFill>
                <a:latin typeface="Calibri"/>
              </a:rPr>
              <a:t>Across all alignment events on the 500-clip Conversational Urdu sample, SPLIT and MERGE together exceed any single substitution type.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3657600"/>
            <a:ext cx="3931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6B6B"/>
                </a:solidFill>
                <a:latin typeface="Calibri"/>
              </a:rPr>
              <a:t>Why ROVER struggles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4023360"/>
            <a:ext cx="393192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E5E7EB"/>
                </a:solidFill>
                <a:latin typeface="Calibri"/>
              </a:rPr>
              <a:t>ROVER's WCN edit-distance treats SPLIT as substitution-then-insertion and MERGE as deletion. The voting signal degrades exactly where it matters most.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5440680"/>
            <a:ext cx="3931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0B981"/>
                </a:solidFill>
                <a:latin typeface="Calibri"/>
              </a:rPr>
              <a:t>CORAL's answer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0" y="5806440"/>
            <a:ext cx="39319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E5E7EB"/>
                </a:solidFill>
                <a:latin typeface="Calibri"/>
              </a:rPr>
              <a:t>Character-level secondary alignment recovers SAME/SPLIT/MERGE/NOISE labels explicitly — Stage 3 then treats them with appropriate semantics.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9CA3AF"/>
                </a:solidFill>
                <a:latin typeface="Calibri"/>
              </a:rPr>
              <a:t>CORAL  |  Consensus-Based Refinement and Output Realignment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9CA3AF"/>
                </a:solidFill>
                <a:latin typeface="Calibri"/>
              </a:rPr>
              <a:t>23 / 32</a:t>
            </a:r>
          </a:p>
        </p:txBody>
      </p:sp>
    </p:spTree>
  </p:cSld>
  <p:clrMapOvr>
    <a:masterClrMapping/>
  </p:clrMapOvr>
  <p:transition spd="med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10607040" y="5486400"/>
            <a:ext cx="2377440" cy="2377440"/>
          </a:xfrm>
          <a:prstGeom prst="ellipse">
            <a:avLst/>
          </a:prstGeom>
          <a:solidFill>
            <a:srgbClr val="FF6B6B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-914400" y="-914400"/>
            <a:ext cx="2194560" cy="2194560"/>
          </a:xfrm>
          <a:prstGeom prst="ellipse">
            <a:avLst/>
          </a:prstGeom>
          <a:solidFill>
            <a:srgbClr val="4ECDC4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6B6B"/>
                </a:solidFill>
                <a:latin typeface="Calibri"/>
              </a:rPr>
              <a:t>KEY ACHIEVEMENTS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1097280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E5E7EB"/>
                </a:solidFill>
                <a:latin typeface="Calibri"/>
              </a:rPr>
              <a:t>Seven concrete wins from CORAL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691640"/>
            <a:ext cx="1097280" cy="0"/>
          </a:xfrm>
          <a:prstGeom prst="line">
            <a:avLst/>
          </a:prstGeom>
          <a:ln w="50800">
            <a:solidFill>
              <a:srgbClr val="FF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40080" y="2103120"/>
            <a:ext cx="5486400" cy="1325880"/>
          </a:xfrm>
          <a:prstGeom prst="roundRect">
            <a:avLst>
              <a:gd name="adj" fmla="val 7000"/>
            </a:avLst>
          </a:prstGeom>
          <a:solidFill>
            <a:srgbClr val="162A42"/>
          </a:solidFill>
          <a:ln w="25400">
            <a:solidFill>
              <a:srgbClr val="FF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40080" y="2103120"/>
            <a:ext cx="164592" cy="1325880"/>
          </a:xfrm>
          <a:prstGeom prst="roundRect">
            <a:avLst>
              <a:gd name="adj" fmla="val 40000"/>
            </a:avLst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60120" y="2240280"/>
            <a:ext cx="50292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E5E7EB"/>
                </a:solidFill>
                <a:latin typeface="Calibri"/>
              </a:rPr>
              <a:t>Novel Algorithm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697480"/>
            <a:ext cx="50292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9CA3AF"/>
                </a:solidFill>
                <a:latin typeface="Calibri"/>
              </a:rPr>
              <a:t>First Urdu-aware split-merge alignment with weighted Levenshtein.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55080" y="2103120"/>
            <a:ext cx="5486400" cy="1325880"/>
          </a:xfrm>
          <a:prstGeom prst="roundRect">
            <a:avLst>
              <a:gd name="adj" fmla="val 7000"/>
            </a:avLst>
          </a:prstGeom>
          <a:solidFill>
            <a:srgbClr val="162A42"/>
          </a:solidFill>
          <a:ln w="25400">
            <a:solidFill>
              <a:srgbClr val="FFD9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6355080" y="2103120"/>
            <a:ext cx="164592" cy="1325880"/>
          </a:xfrm>
          <a:prstGeom prst="roundRect">
            <a:avLst>
              <a:gd name="adj" fmla="val 40000"/>
            </a:avLst>
          </a:prstGeom>
          <a:solidFill>
            <a:srgbClr val="FFD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675120" y="2240280"/>
            <a:ext cx="50292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E5E7EB"/>
                </a:solidFill>
                <a:latin typeface="Calibri"/>
              </a:rPr>
              <a:t>SOTA Beat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2697480"/>
            <a:ext cx="50292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9CA3AF"/>
                </a:solidFill>
                <a:latin typeface="Calibri"/>
              </a:rPr>
              <a:t>10.6% WER on Conversational Urdu — beats Multi-ASR+SpeechLLM (11.3%).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566160"/>
            <a:ext cx="5486400" cy="1325880"/>
          </a:xfrm>
          <a:prstGeom prst="roundRect">
            <a:avLst>
              <a:gd name="adj" fmla="val 7000"/>
            </a:avLst>
          </a:prstGeom>
          <a:solidFill>
            <a:srgbClr val="162A42"/>
          </a:solidFill>
          <a:ln w="25400">
            <a:solidFill>
              <a:srgbClr val="4ECD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640080" y="3566160"/>
            <a:ext cx="164592" cy="1325880"/>
          </a:xfrm>
          <a:prstGeom prst="roundRect">
            <a:avLst>
              <a:gd name="adj" fmla="val 40000"/>
            </a:avLst>
          </a:prstGeom>
          <a:solidFill>
            <a:srgbClr val="4EC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60120" y="3703320"/>
            <a:ext cx="50292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E5E7EB"/>
                </a:solidFill>
                <a:latin typeface="Calibri"/>
              </a:rPr>
              <a:t>Zero Retraining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4160520"/>
            <a:ext cx="50292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9CA3AF"/>
                </a:solidFill>
                <a:latin typeface="Calibri"/>
              </a:rPr>
              <a:t>All gains delivered at inference time. No acoustic-model fine-tune.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55080" y="3566160"/>
            <a:ext cx="5486400" cy="1325880"/>
          </a:xfrm>
          <a:prstGeom prst="roundRect">
            <a:avLst>
              <a:gd name="adj" fmla="val 7000"/>
            </a:avLst>
          </a:prstGeom>
          <a:solidFill>
            <a:srgbClr val="162A42"/>
          </a:solidFill>
          <a:ln w="2540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6355080" y="3566160"/>
            <a:ext cx="164592" cy="1325880"/>
          </a:xfrm>
          <a:prstGeom prst="roundRect">
            <a:avLst>
              <a:gd name="adj" fmla="val 40000"/>
            </a:avLst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675120" y="3703320"/>
            <a:ext cx="50292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E5E7EB"/>
                </a:solidFill>
                <a:latin typeface="Calibri"/>
              </a:rPr>
              <a:t>Reproducible Eval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0" y="4160520"/>
            <a:ext cx="50292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9CA3AF"/>
                </a:solidFill>
                <a:latin typeface="Calibri"/>
              </a:rPr>
              <a:t>Open TSV with 16 (model × config) WER+CER rows.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029200"/>
            <a:ext cx="5486400" cy="1325880"/>
          </a:xfrm>
          <a:prstGeom prst="roundRect">
            <a:avLst>
              <a:gd name="adj" fmla="val 7000"/>
            </a:avLst>
          </a:prstGeom>
          <a:solidFill>
            <a:srgbClr val="162A42"/>
          </a:solidFill>
          <a:ln w="254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640080" y="5029200"/>
            <a:ext cx="164592" cy="1325880"/>
          </a:xfrm>
          <a:prstGeom prst="roundRect">
            <a:avLst>
              <a:gd name="adj" fmla="val 40000"/>
            </a:avLst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60120" y="5166360"/>
            <a:ext cx="50292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E5E7EB"/>
                </a:solidFill>
                <a:latin typeface="Calibri"/>
              </a:rPr>
              <a:t>Deployed System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" y="5623560"/>
            <a:ext cx="50292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9CA3AF"/>
                </a:solidFill>
                <a:latin typeface="Calibri"/>
              </a:rPr>
              <a:t>FastAPI + Next.js, with Kaggle-GPU registry &amp; ngrok fan-out.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355080" y="5029200"/>
            <a:ext cx="5486400" cy="1325880"/>
          </a:xfrm>
          <a:prstGeom prst="roundRect">
            <a:avLst>
              <a:gd name="adj" fmla="val 7000"/>
            </a:avLst>
          </a:prstGeom>
          <a:solidFill>
            <a:srgbClr val="162A42"/>
          </a:solidFill>
          <a:ln w="254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6355080" y="5029200"/>
            <a:ext cx="164592" cy="1325880"/>
          </a:xfrm>
          <a:prstGeom prst="roundRect">
            <a:avLst>
              <a:gd name="adj" fmla="val 40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675120" y="5166360"/>
            <a:ext cx="50292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E5E7EB"/>
                </a:solidFill>
                <a:latin typeface="Calibri"/>
              </a:rPr>
              <a:t>Compositional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75120" y="5623560"/>
            <a:ext cx="50292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9CA3AF"/>
                </a:solidFill>
                <a:latin typeface="Calibri"/>
              </a:rPr>
              <a:t>Every stage adds independent, additive WER reduction.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9CA3AF"/>
                </a:solidFill>
                <a:latin typeface="Calibri"/>
              </a:rPr>
              <a:t>CORAL  |  Consensus-Based Refinement and Output Realignment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9CA3AF"/>
                </a:solidFill>
                <a:latin typeface="Calibri"/>
              </a:rPr>
              <a:t>26 / 32</a:t>
            </a:r>
          </a:p>
        </p:txBody>
      </p:sp>
    </p:spTree>
  </p:cSld>
  <p:clrMapOvr>
    <a:masterClrMapping/>
  </p:clrMapOvr>
  <p:transition spd="med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-1828800" y="-1828800"/>
            <a:ext cx="5486400" cy="5486400"/>
          </a:xfrm>
          <a:prstGeom prst="ellipse">
            <a:avLst/>
          </a:prstGeom>
          <a:solidFill>
            <a:srgbClr val="FF6B6B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8229600" y="2743200"/>
            <a:ext cx="5486400" cy="5486400"/>
          </a:xfrm>
          <a:prstGeom prst="ellipse">
            <a:avLst/>
          </a:prstGeom>
          <a:solidFill>
            <a:srgbClr val="4ECDC4">
              <a:alpha val="3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2286000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ECDC4"/>
                </a:solidFill>
                <a:latin typeface="Calibri"/>
              </a:rPr>
              <a:t>LIVE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43200"/>
            <a:ext cx="10972800" cy="2286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0" b="1" i="0">
                <a:solidFill>
                  <a:srgbClr val="E5E7EB"/>
                </a:solidFill>
                <a:latin typeface="Calibri"/>
              </a:rPr>
              <a:t>From audio to corrected Urdu.</a:t>
            </a:r>
          </a:p>
          <a:p>
            <a:pPr algn="l">
              <a:lnSpc>
                <a:spcPct val="110000"/>
              </a:lnSpc>
            </a:pPr>
            <a:r>
              <a:rPr sz="6000" b="1" i="0">
                <a:solidFill>
                  <a:srgbClr val="E5E7EB"/>
                </a:solidFill>
                <a:latin typeface="Calibri"/>
              </a:rPr>
              <a:t>In 4 user-facing passes.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21208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9CA3AF"/>
                </a:solidFill>
                <a:latin typeface="Calibri"/>
              </a:rPr>
              <a:t>1.  Speech upload   →   2. Alignment scan   →   3. OOV sieve animation   →   4. Voting / LLM diff</a:t>
            </a:r>
          </a:p>
        </p:txBody>
      </p:sp>
    </p:spTree>
  </p:cSld>
  <p:clrMapOvr>
    <a:masterClrMapping/>
  </p:clrMapOvr>
  <p:transition spd="med">
    <p:push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10607040" y="5486400"/>
            <a:ext cx="2377440" cy="2377440"/>
          </a:xfrm>
          <a:prstGeom prst="ellipse">
            <a:avLst/>
          </a:prstGeom>
          <a:solidFill>
            <a:srgbClr val="FF6B6B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-914400" y="-914400"/>
            <a:ext cx="2194560" cy="2194560"/>
          </a:xfrm>
          <a:prstGeom prst="ellipse">
            <a:avLst/>
          </a:prstGeom>
          <a:solidFill>
            <a:srgbClr val="4ECDC4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6B6B"/>
                </a:solidFill>
                <a:latin typeface="Calibri"/>
              </a:rPr>
              <a:t>FRONTEND — R&amp;D PRODUCT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1097280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E5E7EB"/>
                </a:solidFill>
                <a:latin typeface="Calibri"/>
              </a:rPr>
              <a:t>Five-page Next.js platform · dark cinematic theme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691640"/>
            <a:ext cx="1097280" cy="0"/>
          </a:xfrm>
          <a:prstGeom prst="line">
            <a:avLst/>
          </a:prstGeom>
          <a:ln w="50800">
            <a:solidFill>
              <a:srgbClr val="FF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7200" y="2011680"/>
            <a:ext cx="2249424" cy="2240280"/>
          </a:xfrm>
          <a:prstGeom prst="roundRect">
            <a:avLst>
              <a:gd name="adj" fmla="val 7000"/>
            </a:avLst>
          </a:prstGeom>
          <a:solidFill>
            <a:srgbClr val="162A42"/>
          </a:solidFill>
          <a:ln w="25400">
            <a:solidFill>
              <a:srgbClr val="FF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594360" y="2103120"/>
            <a:ext cx="1975104" cy="320040"/>
          </a:xfrm>
          <a:prstGeom prst="roundRect">
            <a:avLst>
              <a:gd name="adj" fmla="val 50000"/>
            </a:avLst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6200" tIns="25400" rIns="76200" bIns="2540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514600"/>
            <a:ext cx="224942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E5E7EB"/>
                </a:solidFill>
                <a:latin typeface="Calibri"/>
              </a:rPr>
              <a:t>Landing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926080"/>
            <a:ext cx="1883664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50" b="0" i="0">
                <a:solidFill>
                  <a:srgbClr val="9CA3AF"/>
                </a:solidFill>
                <a:latin typeface="Calibri"/>
              </a:rPr>
              <a:t>Hero · waveform</a:t>
            </a:r>
          </a:p>
          <a:p>
            <a:pPr algn="ctr">
              <a:lnSpc>
                <a:spcPct val="140000"/>
              </a:lnSpc>
            </a:pPr>
            <a:r>
              <a:rPr sz="1050" b="0" i="0">
                <a:solidFill>
                  <a:srgbClr val="9CA3AF"/>
                </a:solidFill>
                <a:latin typeface="Calibri"/>
              </a:rPr>
              <a:t>KPIs · pipeline</a:t>
            </a:r>
          </a:p>
          <a:p>
            <a:pPr algn="ctr">
              <a:lnSpc>
                <a:spcPct val="140000"/>
              </a:lnSpc>
            </a:pPr>
            <a:r>
              <a:rPr sz="1050" b="0" i="0">
                <a:solidFill>
                  <a:srgbClr val="9CA3AF"/>
                </a:solidFill>
                <a:latin typeface="Calibri"/>
              </a:rPr>
              <a:t>results · stack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2688336" y="3017520"/>
            <a:ext cx="146304" cy="274320"/>
          </a:xfrm>
          <a:prstGeom prst="rightArrow">
            <a:avLst/>
          </a:prstGeom>
          <a:solidFill>
            <a:srgbClr val="9C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2816352" y="2011680"/>
            <a:ext cx="2249424" cy="2240280"/>
          </a:xfrm>
          <a:prstGeom prst="roundRect">
            <a:avLst>
              <a:gd name="adj" fmla="val 7000"/>
            </a:avLst>
          </a:prstGeom>
          <a:solidFill>
            <a:srgbClr val="162A42"/>
          </a:solidFill>
          <a:ln w="25400">
            <a:solidFill>
              <a:srgbClr val="4ECD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2953512" y="2103120"/>
            <a:ext cx="1975104" cy="320040"/>
          </a:xfrm>
          <a:prstGeom prst="roundRect">
            <a:avLst>
              <a:gd name="adj" fmla="val 50000"/>
            </a:avLst>
          </a:prstGeom>
          <a:solidFill>
            <a:srgbClr val="4EC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6200" tIns="25400" rIns="76200" bIns="2540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/pipeline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16352" y="2514600"/>
            <a:ext cx="224942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E5E7EB"/>
                </a:solidFill>
                <a:latin typeface="Calibri"/>
              </a:rPr>
              <a:t>Pipeline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99232" y="2926080"/>
            <a:ext cx="1883664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50" b="0" i="0">
                <a:solidFill>
                  <a:srgbClr val="9CA3AF"/>
                </a:solidFill>
                <a:latin typeface="Calibri"/>
              </a:rPr>
              <a:t>Stage 00 → 04</a:t>
            </a:r>
          </a:p>
          <a:p>
            <a:pPr algn="ctr">
              <a:lnSpc>
                <a:spcPct val="140000"/>
              </a:lnSpc>
            </a:pPr>
            <a:r>
              <a:rPr sz="1050" b="0" i="0">
                <a:solidFill>
                  <a:srgbClr val="9CA3AF"/>
                </a:solidFill>
                <a:latin typeface="Calibri"/>
              </a:rPr>
              <a:t>examples + metrics</a:t>
            </a:r>
          </a:p>
          <a:p>
            <a:pPr algn="ctr">
              <a:lnSpc>
                <a:spcPct val="140000"/>
              </a:lnSpc>
            </a:pPr>
            <a:r>
              <a:rPr sz="1050" b="0" i="0">
                <a:solidFill>
                  <a:srgbClr val="9CA3AF"/>
                </a:solidFill>
                <a:latin typeface="Calibri"/>
              </a:rPr>
              <a:t>flow diagram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5047488" y="3017520"/>
            <a:ext cx="146304" cy="274320"/>
          </a:xfrm>
          <a:prstGeom prst="rightArrow">
            <a:avLst/>
          </a:prstGeom>
          <a:solidFill>
            <a:srgbClr val="9C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5175504" y="2011680"/>
            <a:ext cx="2249424" cy="2240280"/>
          </a:xfrm>
          <a:prstGeom prst="roundRect">
            <a:avLst>
              <a:gd name="adj" fmla="val 7000"/>
            </a:avLst>
          </a:prstGeom>
          <a:solidFill>
            <a:srgbClr val="162A42"/>
          </a:solidFill>
          <a:ln w="25400">
            <a:solidFill>
              <a:srgbClr val="FFD9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5312664" y="2103120"/>
            <a:ext cx="1975104" cy="320040"/>
          </a:xfrm>
          <a:prstGeom prst="roundRect">
            <a:avLst>
              <a:gd name="adj" fmla="val 50000"/>
            </a:avLst>
          </a:prstGeom>
          <a:solidFill>
            <a:srgbClr val="FFD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6200" tIns="25400" rIns="76200" bIns="2540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/research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75504" y="2514600"/>
            <a:ext cx="224942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E5E7EB"/>
                </a:solidFill>
                <a:latin typeface="Calibri"/>
              </a:rPr>
              <a:t>Research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58384" y="2926080"/>
            <a:ext cx="1883664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50" b="0" i="0">
                <a:solidFill>
                  <a:srgbClr val="9CA3AF"/>
                </a:solidFill>
                <a:latin typeface="Calibri"/>
              </a:rPr>
              <a:t>Hypothesis</a:t>
            </a:r>
          </a:p>
          <a:p>
            <a:pPr algn="ctr">
              <a:lnSpc>
                <a:spcPct val="140000"/>
              </a:lnSpc>
            </a:pPr>
            <a:r>
              <a:rPr sz="1050" b="0" i="0">
                <a:solidFill>
                  <a:srgbClr val="9CA3AF"/>
                </a:solidFill>
                <a:latin typeface="Calibri"/>
              </a:rPr>
              <a:t>ablation chart</a:t>
            </a:r>
          </a:p>
          <a:p>
            <a:pPr algn="ctr">
              <a:lnSpc>
                <a:spcPct val="140000"/>
              </a:lnSpc>
            </a:pPr>
            <a:r>
              <a:rPr sz="1050" b="0" i="0">
                <a:solidFill>
                  <a:srgbClr val="9CA3AF"/>
                </a:solidFill>
                <a:latin typeface="Calibri"/>
              </a:rPr>
              <a:t>residuals · future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7406640" y="3017520"/>
            <a:ext cx="146304" cy="274320"/>
          </a:xfrm>
          <a:prstGeom prst="rightArrow">
            <a:avLst/>
          </a:prstGeom>
          <a:solidFill>
            <a:srgbClr val="9C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7534656" y="2011680"/>
            <a:ext cx="2249424" cy="2240280"/>
          </a:xfrm>
          <a:prstGeom prst="roundRect">
            <a:avLst>
              <a:gd name="adj" fmla="val 7000"/>
            </a:avLst>
          </a:prstGeom>
          <a:solidFill>
            <a:srgbClr val="162A42"/>
          </a:solidFill>
          <a:ln w="254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7671816" y="2103120"/>
            <a:ext cx="1975104" cy="320040"/>
          </a:xfrm>
          <a:prstGeom prst="roundRect">
            <a:avLst>
              <a:gd name="adj" fmla="val 50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6200" tIns="25400" rIns="76200" bIns="2540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/team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34656" y="2514600"/>
            <a:ext cx="224942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E5E7EB"/>
                </a:solidFill>
                <a:latin typeface="Calibri"/>
              </a:rPr>
              <a:t>Team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17536" y="2926080"/>
            <a:ext cx="1883664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50" b="0" i="0">
                <a:solidFill>
                  <a:srgbClr val="9CA3AF"/>
                </a:solidFill>
                <a:latin typeface="Calibri"/>
              </a:rPr>
              <a:t>Members + supervisors</a:t>
            </a:r>
          </a:p>
          <a:p>
            <a:pPr algn="ctr">
              <a:lnSpc>
                <a:spcPct val="140000"/>
              </a:lnSpc>
            </a:pPr>
            <a:r>
              <a:rPr sz="1050" b="0" i="0">
                <a:solidFill>
                  <a:srgbClr val="9CA3AF"/>
                </a:solidFill>
                <a:latin typeface="Calibri"/>
              </a:rPr>
              <a:t>FAST School of Computing</a:t>
            </a:r>
          </a:p>
          <a:p>
            <a:pPr algn="ctr">
              <a:lnSpc>
                <a:spcPct val="140000"/>
              </a:lnSpc>
            </a:pPr>
            <a:r>
              <a:rPr sz="1050" b="0" i="0">
                <a:solidFill>
                  <a:srgbClr val="9CA3AF"/>
                </a:solidFill>
                <a:latin typeface="Calibri"/>
              </a:rPr>
              <a:t>photos + socials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9765792" y="3017520"/>
            <a:ext cx="146304" cy="274320"/>
          </a:xfrm>
          <a:prstGeom prst="rightArrow">
            <a:avLst/>
          </a:prstGeom>
          <a:solidFill>
            <a:srgbClr val="9C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9893808" y="2011680"/>
            <a:ext cx="2249424" cy="2240280"/>
          </a:xfrm>
          <a:prstGeom prst="roundRect">
            <a:avLst>
              <a:gd name="adj" fmla="val 7000"/>
            </a:avLst>
          </a:prstGeom>
          <a:solidFill>
            <a:srgbClr val="162A42"/>
          </a:solidFill>
          <a:ln w="2540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10030968" y="2103120"/>
            <a:ext cx="1975104" cy="320040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6200" tIns="25400" rIns="76200" bIns="2540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/app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93808" y="2514600"/>
            <a:ext cx="224942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E5E7EB"/>
                </a:solidFill>
                <a:latin typeface="Calibri"/>
              </a:rPr>
              <a:t>Demo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76688" y="2926080"/>
            <a:ext cx="1883664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50" b="0" i="0">
                <a:solidFill>
                  <a:srgbClr val="9CA3AF"/>
                </a:solidFill>
                <a:latin typeface="Calibri"/>
              </a:rPr>
              <a:t>3-pass interactive</a:t>
            </a:r>
          </a:p>
          <a:p>
            <a:pPr algn="ctr">
              <a:lnSpc>
                <a:spcPct val="140000"/>
              </a:lnSpc>
            </a:pPr>
            <a:r>
              <a:rPr sz="1050" b="0" i="0">
                <a:solidFill>
                  <a:srgbClr val="9CA3AF"/>
                </a:solidFill>
                <a:latin typeface="Calibri"/>
              </a:rPr>
              <a:t>file · speech · manual</a:t>
            </a:r>
          </a:p>
          <a:p>
            <a:pPr algn="ctr">
              <a:lnSpc>
                <a:spcPct val="140000"/>
              </a:lnSpc>
            </a:pPr>
            <a:r>
              <a:rPr sz="1050" b="0" i="0">
                <a:solidFill>
                  <a:srgbClr val="9CA3AF"/>
                </a:solidFill>
                <a:latin typeface="Calibri"/>
              </a:rPr>
              <a:t>LLM refinement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4434840"/>
            <a:ext cx="10972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4ECDC4"/>
                </a:solidFill>
                <a:latin typeface="Calibri"/>
              </a:rPr>
              <a:t>Interactive demo — 3-pass workflow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4800600"/>
            <a:ext cx="3803904" cy="1371600"/>
          </a:xfrm>
          <a:prstGeom prst="roundRect">
            <a:avLst>
              <a:gd name="adj" fmla="val 6000"/>
            </a:avLst>
          </a:prstGeom>
          <a:solidFill>
            <a:srgbClr val="162A42"/>
          </a:solidFill>
          <a:ln w="9525">
            <a:solidFill>
              <a:srgbClr val="FF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640080" y="4892040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6200" tIns="25400" rIns="76200" bIns="25400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Pass 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463040" y="4864608"/>
            <a:ext cx="25603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E5E7EB"/>
                </a:solidFill>
                <a:latin typeface="Calibri"/>
              </a:rPr>
              <a:t>Alignment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5212080"/>
            <a:ext cx="3438144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9CA3AF"/>
                </a:solidFill>
                <a:latin typeface="Calibri"/>
              </a:rPr>
              <a:t>Input audio (mic / MP3) or</a:t>
            </a: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9CA3AF"/>
                </a:solidFill>
                <a:latin typeface="Calibri"/>
              </a:rPr>
              <a:t>pre-aligned TSV → /align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398264" y="4800600"/>
            <a:ext cx="3803904" cy="1371600"/>
          </a:xfrm>
          <a:prstGeom prst="roundRect">
            <a:avLst>
              <a:gd name="adj" fmla="val 6000"/>
            </a:avLst>
          </a:prstGeom>
          <a:solidFill>
            <a:srgbClr val="162A42"/>
          </a:solidFill>
          <a:ln w="9525">
            <a:solidFill>
              <a:srgbClr val="FFD9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ounded Rectangle 37"/>
          <p:cNvSpPr/>
          <p:nvPr/>
        </p:nvSpPr>
        <p:spPr>
          <a:xfrm>
            <a:off x="4581144" y="4892040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FFD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6200" tIns="25400" rIns="76200" bIns="25400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Pass 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04104" y="4864608"/>
            <a:ext cx="25603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E5E7EB"/>
                </a:solidFill>
                <a:latin typeface="Calibri"/>
              </a:rPr>
              <a:t>OOV Sieve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81144" y="5212080"/>
            <a:ext cx="3438144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9CA3AF"/>
                </a:solidFill>
                <a:latin typeface="Calibri"/>
              </a:rPr>
              <a:t>Animated 4-phase BK-tree</a:t>
            </a: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9CA3AF"/>
                </a:solidFill>
                <a:latin typeface="Calibri"/>
              </a:rPr>
              <a:t>scan + n-gram re-rank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339328" y="4800600"/>
            <a:ext cx="3803904" cy="1371600"/>
          </a:xfrm>
          <a:prstGeom prst="roundRect">
            <a:avLst>
              <a:gd name="adj" fmla="val 6000"/>
            </a:avLst>
          </a:prstGeom>
          <a:solidFill>
            <a:srgbClr val="162A42"/>
          </a:solidFill>
          <a:ln w="952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ounded Rectangle 41"/>
          <p:cNvSpPr/>
          <p:nvPr/>
        </p:nvSpPr>
        <p:spPr>
          <a:xfrm>
            <a:off x="8522208" y="4892040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6200" tIns="25400" rIns="76200" bIns="25400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Pass 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345168" y="4864608"/>
            <a:ext cx="25603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E5E7EB"/>
                </a:solidFill>
                <a:latin typeface="Calibri"/>
              </a:rPr>
              <a:t>Correction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522208" y="5212080"/>
            <a:ext cx="3438144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9CA3AF"/>
                </a:solidFill>
                <a:latin typeface="Calibri"/>
              </a:rPr>
              <a:t>Voting · LLM (GPT-OSS)</a:t>
            </a: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9CA3AF"/>
                </a:solidFill>
                <a:latin typeface="Calibri"/>
              </a:rPr>
              <a:t>side-by-side diff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" y="6309360"/>
            <a:ext cx="11430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9CA3AF"/>
                </a:solidFill>
                <a:latin typeface="Calibri"/>
              </a:rPr>
              <a:t>Dark cinematic theme  •  animated waveform hero  •  aurora gradients  •  particle field  •  staggered reveals  •  localStorage state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9CA3AF"/>
                </a:solidFill>
                <a:latin typeface="Calibri"/>
              </a:rPr>
              <a:t>CORAL  |  Consensus-Based Refinement and Output Realignment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9CA3AF"/>
                </a:solidFill>
                <a:latin typeface="Calibri"/>
              </a:rPr>
              <a:t>29 / 32</a:t>
            </a:r>
          </a:p>
        </p:txBody>
      </p:sp>
    </p:spTree>
  </p:cSld>
  <p:clrMapOvr>
    <a:masterClrMapping/>
  </p:clrMapOvr>
  <p:transition spd="med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10607040" y="5486400"/>
            <a:ext cx="2377440" cy="2377440"/>
          </a:xfrm>
          <a:prstGeom prst="ellipse">
            <a:avLst/>
          </a:prstGeom>
          <a:solidFill>
            <a:srgbClr val="FF6B6B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-914400" y="-914400"/>
            <a:ext cx="2194560" cy="2194560"/>
          </a:xfrm>
          <a:prstGeom prst="ellipse">
            <a:avLst/>
          </a:prstGeom>
          <a:solidFill>
            <a:srgbClr val="4ECDC4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6B6B"/>
                </a:solidFill>
                <a:latin typeface="Calibri"/>
              </a:rPr>
              <a:t>DELIVERABLES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1097280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E5E7EB"/>
                </a:solidFill>
                <a:latin typeface="Calibri"/>
              </a:rPr>
              <a:t>Everything shipped with CORAL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691640"/>
            <a:ext cx="1097280" cy="0"/>
          </a:xfrm>
          <a:prstGeom prst="line">
            <a:avLst/>
          </a:prstGeom>
          <a:ln w="50800">
            <a:solidFill>
              <a:srgbClr val="FF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48640" y="2103120"/>
            <a:ext cx="2788920" cy="1828800"/>
          </a:xfrm>
          <a:prstGeom prst="roundRect">
            <a:avLst>
              <a:gd name="adj" fmla="val 8000"/>
            </a:avLst>
          </a:prstGeom>
          <a:solidFill>
            <a:srgbClr val="162A42"/>
          </a:solidFill>
          <a:ln w="25400">
            <a:solidFill>
              <a:srgbClr val="FF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731520" y="2286000"/>
            <a:ext cx="2423160" cy="365760"/>
          </a:xfrm>
          <a:prstGeom prst="roundRect">
            <a:avLst>
              <a:gd name="adj" fmla="val 50000"/>
            </a:avLst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6200" tIns="25400" rIns="76200" bIns="2540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Pipeline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2423160" cy="1005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40000"/>
              </a:lnSpc>
            </a:pPr>
            <a:r>
              <a:rPr sz="1150" b="0" i="0">
                <a:solidFill>
                  <a:srgbClr val="E5E7EB"/>
                </a:solidFill>
                <a:latin typeface="Calibri"/>
              </a:rPr>
              <a:t>5-stage Python pipeline</a:t>
            </a:r>
          </a:p>
          <a:p>
            <a:pPr algn="ctr">
              <a:lnSpc>
                <a:spcPct val="140000"/>
              </a:lnSpc>
            </a:pPr>
            <a:r>
              <a:rPr sz="1150" b="0" i="0">
                <a:solidFill>
                  <a:srgbClr val="E5E7EB"/>
                </a:solidFill>
                <a:latin typeface="Calibri"/>
              </a:rPr>
              <a:t>FastAPI + Docker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83280" y="2103120"/>
            <a:ext cx="2788920" cy="1828800"/>
          </a:xfrm>
          <a:prstGeom prst="roundRect">
            <a:avLst>
              <a:gd name="adj" fmla="val 8000"/>
            </a:avLst>
          </a:prstGeom>
          <a:solidFill>
            <a:srgbClr val="162A42"/>
          </a:solidFill>
          <a:ln w="25400">
            <a:solidFill>
              <a:srgbClr val="FFD9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3566160" y="2286000"/>
            <a:ext cx="2423160" cy="365760"/>
          </a:xfrm>
          <a:prstGeom prst="roundRect">
            <a:avLst>
              <a:gd name="adj" fmla="val 50000"/>
            </a:avLst>
          </a:prstGeom>
          <a:solidFill>
            <a:srgbClr val="FFD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6200" tIns="25400" rIns="76200" bIns="2540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Frontend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2788920"/>
            <a:ext cx="2423160" cy="1005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40000"/>
              </a:lnSpc>
            </a:pPr>
            <a:r>
              <a:rPr sz="1150" b="0" i="0">
                <a:solidFill>
                  <a:srgbClr val="E5E7EB"/>
                </a:solidFill>
                <a:latin typeface="Calibri"/>
              </a:rPr>
              <a:t>Next.js + React app</a:t>
            </a:r>
          </a:p>
          <a:p>
            <a:pPr algn="ctr">
              <a:lnSpc>
                <a:spcPct val="140000"/>
              </a:lnSpc>
            </a:pPr>
            <a:r>
              <a:rPr sz="1150" b="0" i="0">
                <a:solidFill>
                  <a:srgbClr val="E5E7EB"/>
                </a:solidFill>
                <a:latin typeface="Calibri"/>
              </a:rPr>
              <a:t>File + Speech modes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2103120"/>
            <a:ext cx="2788920" cy="1828800"/>
          </a:xfrm>
          <a:prstGeom prst="roundRect">
            <a:avLst>
              <a:gd name="adj" fmla="val 8000"/>
            </a:avLst>
          </a:prstGeom>
          <a:solidFill>
            <a:srgbClr val="162A42"/>
          </a:solidFill>
          <a:ln w="25400">
            <a:solidFill>
              <a:srgbClr val="4ECD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6400800" y="2286000"/>
            <a:ext cx="2423160" cy="365760"/>
          </a:xfrm>
          <a:prstGeom prst="roundRect">
            <a:avLst>
              <a:gd name="adj" fmla="val 50000"/>
            </a:avLst>
          </a:prstGeom>
          <a:solidFill>
            <a:srgbClr val="4EC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6200" tIns="25400" rIns="76200" bIns="2540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Kaggle ASR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788920"/>
            <a:ext cx="2423160" cy="1005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40000"/>
              </a:lnSpc>
            </a:pPr>
            <a:r>
              <a:rPr sz="1150" b="0" i="0">
                <a:solidFill>
                  <a:srgbClr val="E5E7EB"/>
                </a:solidFill>
                <a:latin typeface="Calibri"/>
              </a:rPr>
              <a:t>GPU notebooks (Whisper-L, Seamless-L)</a:t>
            </a:r>
          </a:p>
          <a:p>
            <a:pPr algn="ctr">
              <a:lnSpc>
                <a:spcPct val="140000"/>
              </a:lnSpc>
            </a:pPr>
            <a:r>
              <a:rPr sz="1150" b="0" i="0">
                <a:solidFill>
                  <a:srgbClr val="E5E7EB"/>
                </a:solidFill>
                <a:latin typeface="Calibri"/>
              </a:rPr>
              <a:t>self-register via ngrok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52560" y="2103120"/>
            <a:ext cx="2788920" cy="1828800"/>
          </a:xfrm>
          <a:prstGeom prst="roundRect">
            <a:avLst>
              <a:gd name="adj" fmla="val 8000"/>
            </a:avLst>
          </a:prstGeom>
          <a:solidFill>
            <a:srgbClr val="162A42"/>
          </a:solidFill>
          <a:ln w="2540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9235440" y="2286000"/>
            <a:ext cx="2423160" cy="365760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6200" tIns="25400" rIns="76200" bIns="2540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Registry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35440" y="2788920"/>
            <a:ext cx="2423160" cy="1005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40000"/>
              </a:lnSpc>
            </a:pPr>
            <a:r>
              <a:rPr sz="1150" b="0" i="0">
                <a:solidFill>
                  <a:srgbClr val="E5E7EB"/>
                </a:solidFill>
                <a:latin typeface="Calibri"/>
              </a:rPr>
              <a:t>60-s heartbeats</a:t>
            </a:r>
          </a:p>
          <a:p>
            <a:pPr algn="ctr">
              <a:lnSpc>
                <a:spcPct val="140000"/>
              </a:lnSpc>
            </a:pPr>
            <a:r>
              <a:rPr sz="1150" b="0" i="0">
                <a:solidFill>
                  <a:srgbClr val="E5E7EB"/>
                </a:solidFill>
                <a:latin typeface="Calibri"/>
              </a:rPr>
              <a:t>300-s eviction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069080"/>
            <a:ext cx="2788920" cy="1828800"/>
          </a:xfrm>
          <a:prstGeom prst="roundRect">
            <a:avLst>
              <a:gd name="adj" fmla="val 8000"/>
            </a:avLst>
          </a:prstGeom>
          <a:solidFill>
            <a:srgbClr val="162A42"/>
          </a:solidFill>
          <a:ln w="254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731520" y="4251960"/>
            <a:ext cx="2423160" cy="365760"/>
          </a:xfrm>
          <a:prstGeom prst="roundRect">
            <a:avLst>
              <a:gd name="adj" fmla="val 50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6200" tIns="25400" rIns="76200" bIns="2540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Evaluation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4754880"/>
            <a:ext cx="2423160" cy="1005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40000"/>
              </a:lnSpc>
            </a:pPr>
            <a:r>
              <a:rPr sz="1150" b="0" i="0">
                <a:solidFill>
                  <a:srgbClr val="E5E7EB"/>
                </a:solidFill>
                <a:latin typeface="Calibri"/>
              </a:rPr>
              <a:t>WER + CER · 4 configs × 4 models</a:t>
            </a:r>
          </a:p>
          <a:p>
            <a:pPr algn="ctr">
              <a:lnSpc>
                <a:spcPct val="140000"/>
              </a:lnSpc>
            </a:pPr>
            <a:r>
              <a:rPr sz="1150" b="0" i="0">
                <a:solidFill>
                  <a:srgbClr val="E5E7EB"/>
                </a:solidFill>
                <a:latin typeface="Calibri"/>
              </a:rPr>
              <a:t>ensemble_correction_eval.tsv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383280" y="4069080"/>
            <a:ext cx="2788920" cy="1828800"/>
          </a:xfrm>
          <a:prstGeom prst="roundRect">
            <a:avLst>
              <a:gd name="adj" fmla="val 8000"/>
            </a:avLst>
          </a:prstGeom>
          <a:solidFill>
            <a:srgbClr val="162A42"/>
          </a:solidFill>
          <a:ln w="254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3566160" y="4251960"/>
            <a:ext cx="2423160" cy="365760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6200" tIns="25400" rIns="76200" bIns="2540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Data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0" y="4754880"/>
            <a:ext cx="2423160" cy="1005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40000"/>
              </a:lnSpc>
            </a:pPr>
            <a:r>
              <a:rPr sz="1150" b="0" i="0">
                <a:solidFill>
                  <a:srgbClr val="E5E7EB"/>
                </a:solidFill>
                <a:latin typeface="Calibri"/>
              </a:rPr>
              <a:t>BK-tree.joblib + n-gram Parquet</a:t>
            </a:r>
          </a:p>
          <a:p>
            <a:pPr algn="ctr">
              <a:lnSpc>
                <a:spcPct val="140000"/>
              </a:lnSpc>
            </a:pPr>
            <a:r>
              <a:rPr sz="1150" b="0" i="0">
                <a:solidFill>
                  <a:srgbClr val="E5E7EB"/>
                </a:solidFill>
                <a:latin typeface="Calibri"/>
              </a:rPr>
              <a:t>HF-hosted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17920" y="4069080"/>
            <a:ext cx="2788920" cy="1828800"/>
          </a:xfrm>
          <a:prstGeom prst="roundRect">
            <a:avLst>
              <a:gd name="adj" fmla="val 8000"/>
            </a:avLst>
          </a:prstGeom>
          <a:solidFill>
            <a:srgbClr val="162A42"/>
          </a:solidFill>
          <a:ln w="254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6400800" y="4251960"/>
            <a:ext cx="2423160" cy="36576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6200" tIns="25400" rIns="76200" bIns="2540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Docs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4754880"/>
            <a:ext cx="2423160" cy="1005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40000"/>
              </a:lnSpc>
            </a:pPr>
            <a:r>
              <a:rPr sz="1150" b="0" i="0">
                <a:solidFill>
                  <a:srgbClr val="E5E7EB"/>
                </a:solidFill>
                <a:latin typeface="Calibri"/>
              </a:rPr>
              <a:t>97-page LaTeX report</a:t>
            </a:r>
          </a:p>
          <a:p>
            <a:pPr algn="ctr">
              <a:lnSpc>
                <a:spcPct val="140000"/>
              </a:lnSpc>
            </a:pPr>
            <a:r>
              <a:rPr sz="1150" b="0" i="0">
                <a:solidFill>
                  <a:srgbClr val="E5E7EB"/>
                </a:solidFill>
                <a:latin typeface="Calibri"/>
              </a:rPr>
              <a:t>+ FYP-1 &amp; FYP-2 PDFs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052560" y="4069080"/>
            <a:ext cx="2788920" cy="1828800"/>
          </a:xfrm>
          <a:prstGeom prst="roundRect">
            <a:avLst>
              <a:gd name="adj" fmla="val 8000"/>
            </a:avLst>
          </a:prstGeom>
          <a:solidFill>
            <a:srgbClr val="162A42"/>
          </a:solidFill>
          <a:ln w="25400">
            <a:solidFill>
              <a:srgbClr val="FF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9235440" y="4251960"/>
            <a:ext cx="2423160" cy="365760"/>
          </a:xfrm>
          <a:prstGeom prst="roundRect">
            <a:avLst>
              <a:gd name="adj" fmla="val 50000"/>
            </a:avLst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6200" tIns="25400" rIns="76200" bIns="2540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Repository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40" y="4754880"/>
            <a:ext cx="2423160" cy="1005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40000"/>
              </a:lnSpc>
            </a:pPr>
            <a:r>
              <a:rPr sz="1150" b="0" i="0">
                <a:solidFill>
                  <a:srgbClr val="E5E7EB"/>
                </a:solidFill>
                <a:latin typeface="Calibri"/>
              </a:rPr>
              <a:t>Open code + permissive licence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9CA3AF"/>
                </a:solidFill>
                <a:latin typeface="Calibri"/>
              </a:rPr>
              <a:t>CORAL  |  Consensus-Based Refinement and Output Realignment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9CA3AF"/>
                </a:solidFill>
                <a:latin typeface="Calibri"/>
              </a:rPr>
              <a:t>30 / 32</a:t>
            </a:r>
          </a:p>
        </p:txBody>
      </p:sp>
    </p:spTree>
  </p:cSld>
  <p:clrMapOvr>
    <a:masterClrMapping/>
  </p:clrMapOvr>
  <p:transition spd="med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-2743200" y="1828800"/>
            <a:ext cx="7315200" cy="7315200"/>
          </a:xfrm>
          <a:prstGeom prst="ellipse">
            <a:avLst/>
          </a:prstGeom>
          <a:solidFill>
            <a:srgbClr val="FF6B6B">
              <a:alpha val="3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7315200" y="-1828800"/>
            <a:ext cx="7315200" cy="7315200"/>
          </a:xfrm>
          <a:prstGeom prst="ellipse">
            <a:avLst/>
          </a:prstGeom>
          <a:solidFill>
            <a:srgbClr val="4ECDC4">
              <a:alpha val="3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7280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800" b="1" i="0">
                <a:solidFill>
                  <a:srgbClr val="E5E7EB"/>
                </a:solidFill>
                <a:latin typeface="Calibri"/>
              </a:rPr>
              <a:t>Thank you.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657600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1">
                <a:solidFill>
                  <a:srgbClr val="E5E7EB"/>
                </a:solidFill>
                <a:latin typeface="Calibri"/>
              </a:rPr>
              <a:t>Questions, comments, or constructive disagreement — all welcome.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4937760"/>
            <a:ext cx="10972800" cy="1280160"/>
          </a:xfrm>
          <a:prstGeom prst="roundRect">
            <a:avLst>
              <a:gd name="adj" fmla="val 8000"/>
            </a:avLst>
          </a:prstGeom>
          <a:solidFill>
            <a:srgbClr val="162A42"/>
          </a:solidFill>
          <a:ln w="9525">
            <a:solidFill>
              <a:srgbClr val="FF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5120640"/>
            <a:ext cx="105156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6B6B"/>
                </a:solidFill>
                <a:latin typeface="Calibri"/>
              </a:rPr>
              <a:t>CORAL  •  CORAL-Urdu-ASR repository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440680"/>
            <a:ext cx="1051560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E5E7EB"/>
                </a:solidFill>
                <a:latin typeface="Calibri"/>
              </a:rPr>
              <a:t>Ali Irfan  21I-2572   •   Nouman Hafeez  21I-0416   •   Rafay Khattak  21I-0423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E5E7EB"/>
                </a:solidFill>
                <a:latin typeface="Calibri"/>
              </a:rPr>
              <a:t>Dept. of Computer Science · FAST School of Computing · FAST-NUCES Islamabad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E5E7EB"/>
                </a:solidFill>
                <a:latin typeface="Calibri"/>
              </a:rPr>
              <a:t>Supervised by Ms. Kainat Iqbal · co-supervised by Ms. Saira Qamar  (AI &amp; Data Science)</a:t>
            </a:r>
          </a:p>
        </p:txBody>
      </p:sp>
    </p:spTree>
  </p:cSld>
  <p:clrMapOvr>
    <a:masterClrMapping/>
  </p:clrMapOvr>
  <p:transition spd="med">
    <p:push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54</TotalTime>
  <Words>2889</Words>
  <Application>Microsoft Office PowerPoint</Application>
  <PresentationFormat>Widescreen</PresentationFormat>
  <Paragraphs>581</Paragraphs>
  <Slides>25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0" baseType="lpstr">
      <vt:lpstr>Aptos</vt:lpstr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Muhammad Nouman Hafeez</cp:lastModifiedBy>
  <cp:revision>16</cp:revision>
  <dcterms:created xsi:type="dcterms:W3CDTF">2013-01-27T09:14:16Z</dcterms:created>
  <dcterms:modified xsi:type="dcterms:W3CDTF">2026-05-15T05:53:16Z</dcterms:modified>
  <cp:category/>
</cp:coreProperties>
</file>